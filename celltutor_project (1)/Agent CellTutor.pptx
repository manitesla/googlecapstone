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0" r:id="rId5"/>
    <p:sldId id="261" r:id="rId6"/>
    <p:sldId id="262" r:id="rId7"/>
    <p:sldId id="263"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758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2.xml"/><Relationship Id="rId16"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3.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3.xml"/><Relationship Id="rId16"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19" Type="http://schemas.openxmlformats.org/officeDocument/2006/relationships/image" Target="../media/image24.png"/><Relationship Id="rId4" Type="http://schemas.openxmlformats.org/officeDocument/2006/relationships/image" Target="../media/image11.png"/><Relationship Id="rId9" Type="http://schemas.openxmlformats.org/officeDocument/2006/relationships/image" Target="../media/image29.png"/><Relationship Id="rId14" Type="http://schemas.openxmlformats.org/officeDocument/2006/relationships/image" Target="../media/image34.png"/></Relationships>
</file>

<file path=ppt/slides/_rels/slide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0.png"/><Relationship Id="rId3" Type="http://schemas.openxmlformats.org/officeDocument/2006/relationships/image" Target="../media/image1.png"/><Relationship Id="rId7" Type="http://schemas.openxmlformats.org/officeDocument/2006/relationships/image" Target="../media/image8.png"/><Relationship Id="rId12" Type="http://schemas.openxmlformats.org/officeDocument/2006/relationships/image" Target="../media/image45.png"/><Relationship Id="rId17" Type="http://schemas.openxmlformats.org/officeDocument/2006/relationships/image" Target="../media/image49.png"/><Relationship Id="rId2" Type="http://schemas.openxmlformats.org/officeDocument/2006/relationships/notesSlide" Target="../notesSlides/notesSlide4.xml"/><Relationship Id="rId16" Type="http://schemas.openxmlformats.org/officeDocument/2006/relationships/image" Target="../media/image48.png"/><Relationship Id="rId20"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4.png"/><Relationship Id="rId5" Type="http://schemas.openxmlformats.org/officeDocument/2006/relationships/image" Target="../media/image39.png"/><Relationship Id="rId15" Type="http://schemas.openxmlformats.org/officeDocument/2006/relationships/image" Target="../media/image19.png"/><Relationship Id="rId10" Type="http://schemas.openxmlformats.org/officeDocument/2006/relationships/image" Target="../media/image43.png"/><Relationship Id="rId19" Type="http://schemas.openxmlformats.org/officeDocument/2006/relationships/image" Target="../media/image51.png"/><Relationship Id="rId4" Type="http://schemas.openxmlformats.org/officeDocument/2006/relationships/image" Target="../media/image11.png"/><Relationship Id="rId9" Type="http://schemas.openxmlformats.org/officeDocument/2006/relationships/image" Target="../media/image42.png"/><Relationship Id="rId14" Type="http://schemas.openxmlformats.org/officeDocument/2006/relationships/image" Target="../media/image47.png"/></Relationships>
</file>

<file path=ppt/slides/_rels/slide5.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46.png"/><Relationship Id="rId18" Type="http://schemas.openxmlformats.org/officeDocument/2006/relationships/image" Target="../media/image64.png"/><Relationship Id="rId3" Type="http://schemas.openxmlformats.org/officeDocument/2006/relationships/image" Target="../media/image1.png"/><Relationship Id="rId21" Type="http://schemas.openxmlformats.org/officeDocument/2006/relationships/image" Target="../media/image67.png"/><Relationship Id="rId7" Type="http://schemas.openxmlformats.org/officeDocument/2006/relationships/image" Target="../media/image54.png"/><Relationship Id="rId12" Type="http://schemas.openxmlformats.org/officeDocument/2006/relationships/image" Target="../media/image59.png"/><Relationship Id="rId17" Type="http://schemas.openxmlformats.org/officeDocument/2006/relationships/image" Target="../media/image63.png"/><Relationship Id="rId2" Type="http://schemas.openxmlformats.org/officeDocument/2006/relationships/notesSlide" Target="../notesSlides/notesSlide5.xml"/><Relationship Id="rId16" Type="http://schemas.openxmlformats.org/officeDocument/2006/relationships/image" Target="../media/image62.png"/><Relationship Id="rId20" Type="http://schemas.openxmlformats.org/officeDocument/2006/relationships/image" Target="../media/image66.png"/><Relationship Id="rId1" Type="http://schemas.openxmlformats.org/officeDocument/2006/relationships/slideLayout" Target="../slideLayouts/slideLayout1.xml"/><Relationship Id="rId6" Type="http://schemas.openxmlformats.org/officeDocument/2006/relationships/image" Target="../media/image53.png"/><Relationship Id="rId11" Type="http://schemas.openxmlformats.org/officeDocument/2006/relationships/image" Target="../media/image58.png"/><Relationship Id="rId24" Type="http://schemas.openxmlformats.org/officeDocument/2006/relationships/image" Target="../media/image24.png"/><Relationship Id="rId5" Type="http://schemas.openxmlformats.org/officeDocument/2006/relationships/image" Target="../media/image52.png"/><Relationship Id="rId15" Type="http://schemas.openxmlformats.org/officeDocument/2006/relationships/image" Target="../media/image61.png"/><Relationship Id="rId23" Type="http://schemas.openxmlformats.org/officeDocument/2006/relationships/image" Target="../media/image69.png"/><Relationship Id="rId10" Type="http://schemas.openxmlformats.org/officeDocument/2006/relationships/image" Target="../media/image57.png"/><Relationship Id="rId19" Type="http://schemas.openxmlformats.org/officeDocument/2006/relationships/image" Target="../media/image65.png"/><Relationship Id="rId4" Type="http://schemas.openxmlformats.org/officeDocument/2006/relationships/image" Target="../media/image11.png"/><Relationship Id="rId9" Type="http://schemas.openxmlformats.org/officeDocument/2006/relationships/image" Target="../media/image56.png"/><Relationship Id="rId14" Type="http://schemas.openxmlformats.org/officeDocument/2006/relationships/image" Target="../media/image60.png"/><Relationship Id="rId22" Type="http://schemas.openxmlformats.org/officeDocument/2006/relationships/image" Target="../media/image68.png"/></Relationships>
</file>

<file path=ppt/slides/_rels/slide6.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18" Type="http://schemas.openxmlformats.org/officeDocument/2006/relationships/image" Target="../media/image84.png"/><Relationship Id="rId3" Type="http://schemas.openxmlformats.org/officeDocument/2006/relationships/image" Target="../media/image70.png"/><Relationship Id="rId21" Type="http://schemas.openxmlformats.org/officeDocument/2006/relationships/image" Target="../media/image24.png"/><Relationship Id="rId7" Type="http://schemas.openxmlformats.org/officeDocument/2006/relationships/image" Target="../media/image73.png"/><Relationship Id="rId12" Type="http://schemas.openxmlformats.org/officeDocument/2006/relationships/image" Target="../media/image78.png"/><Relationship Id="rId17" Type="http://schemas.openxmlformats.org/officeDocument/2006/relationships/image" Target="../media/image83.png"/><Relationship Id="rId2" Type="http://schemas.openxmlformats.org/officeDocument/2006/relationships/notesSlide" Target="../notesSlides/notesSlide6.xml"/><Relationship Id="rId16" Type="http://schemas.openxmlformats.org/officeDocument/2006/relationships/image" Target="../media/image82.png"/><Relationship Id="rId20" Type="http://schemas.openxmlformats.org/officeDocument/2006/relationships/image" Target="../media/image86.png"/><Relationship Id="rId1" Type="http://schemas.openxmlformats.org/officeDocument/2006/relationships/slideLayout" Target="../slideLayouts/slideLayout1.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5" Type="http://schemas.openxmlformats.org/officeDocument/2006/relationships/image" Target="../media/image81.png"/><Relationship Id="rId10" Type="http://schemas.openxmlformats.org/officeDocument/2006/relationships/image" Target="../media/image76.png"/><Relationship Id="rId19" Type="http://schemas.openxmlformats.org/officeDocument/2006/relationships/image" Target="../media/image85.png"/><Relationship Id="rId4" Type="http://schemas.openxmlformats.org/officeDocument/2006/relationships/image" Target="../media/image11.png"/><Relationship Id="rId9" Type="http://schemas.openxmlformats.org/officeDocument/2006/relationships/image" Target="../media/image75.png"/><Relationship Id="rId14" Type="http://schemas.openxmlformats.org/officeDocument/2006/relationships/image" Target="../media/image80.png"/></Relationships>
</file>

<file path=ppt/slides/_rels/slide7.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18" Type="http://schemas.openxmlformats.org/officeDocument/2006/relationships/image" Target="../media/image99.png"/><Relationship Id="rId3" Type="http://schemas.openxmlformats.org/officeDocument/2006/relationships/image" Target="../media/image1.png"/><Relationship Id="rId7" Type="http://schemas.openxmlformats.org/officeDocument/2006/relationships/image" Target="../media/image89.png"/><Relationship Id="rId12" Type="http://schemas.openxmlformats.org/officeDocument/2006/relationships/image" Target="../media/image94.png"/><Relationship Id="rId17" Type="http://schemas.openxmlformats.org/officeDocument/2006/relationships/image" Target="../media/image98.png"/><Relationship Id="rId2" Type="http://schemas.openxmlformats.org/officeDocument/2006/relationships/notesSlide" Target="../notesSlides/notesSlide7.xml"/><Relationship Id="rId16" Type="http://schemas.openxmlformats.org/officeDocument/2006/relationships/image" Target="../media/image76.png"/><Relationship Id="rId20"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png"/><Relationship Id="rId19" Type="http://schemas.openxmlformats.org/officeDocument/2006/relationships/image" Target="../media/image100.png"/><Relationship Id="rId4" Type="http://schemas.openxmlformats.org/officeDocument/2006/relationships/image" Target="../media/image11.png"/><Relationship Id="rId9" Type="http://schemas.openxmlformats.org/officeDocument/2006/relationships/image" Target="../media/image91.png"/><Relationship Id="rId14" Type="http://schemas.openxmlformats.org/officeDocument/2006/relationships/image" Target="../media/image9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45765" y="1907790"/>
            <a:ext cx="686990" cy="686990"/>
          </a:xfrm>
          <a:prstGeom prst="rect">
            <a:avLst/>
          </a:prstGeom>
        </p:spPr>
      </p:pic>
      <p:pic>
        <p:nvPicPr>
          <p:cNvPr id="4" name="Image 2" descr="preencoded.png"/>
          <p:cNvPicPr>
            <a:picLocks noChangeAspect="1"/>
          </p:cNvPicPr>
          <p:nvPr/>
        </p:nvPicPr>
        <p:blipFill>
          <a:blip r:embed="rId5"/>
          <a:stretch>
            <a:fillRect/>
          </a:stretch>
        </p:blipFill>
        <p:spPr>
          <a:xfrm>
            <a:off x="1900238" y="2858776"/>
            <a:ext cx="834414" cy="492748"/>
          </a:xfrm>
          <a:prstGeom prst="rect">
            <a:avLst/>
          </a:prstGeom>
        </p:spPr>
      </p:pic>
      <p:pic>
        <p:nvPicPr>
          <p:cNvPr id="5" name="Image 3" descr="preencoded.png"/>
          <p:cNvPicPr>
            <a:picLocks noChangeAspect="1"/>
          </p:cNvPicPr>
          <p:nvPr/>
        </p:nvPicPr>
        <p:blipFill>
          <a:blip r:embed="rId6"/>
          <a:stretch>
            <a:fillRect/>
          </a:stretch>
        </p:blipFill>
        <p:spPr>
          <a:xfrm>
            <a:off x="9802502" y="3637573"/>
            <a:ext cx="492747" cy="834414"/>
          </a:xfrm>
          <a:prstGeom prst="rect">
            <a:avLst/>
          </a:prstGeom>
        </p:spPr>
      </p:pic>
      <p:pic>
        <p:nvPicPr>
          <p:cNvPr id="6" name="Image 4" descr="preencoded.png"/>
          <p:cNvPicPr>
            <a:picLocks noChangeAspect="1"/>
          </p:cNvPicPr>
          <p:nvPr/>
        </p:nvPicPr>
        <p:blipFill>
          <a:blip r:embed="rId7"/>
          <a:stretch>
            <a:fillRect/>
          </a:stretch>
        </p:blipFill>
        <p:spPr>
          <a:xfrm>
            <a:off x="952500" y="1905000"/>
            <a:ext cx="76200" cy="76200"/>
          </a:xfrm>
          <a:prstGeom prst="rect">
            <a:avLst/>
          </a:prstGeom>
        </p:spPr>
      </p:pic>
      <p:pic>
        <p:nvPicPr>
          <p:cNvPr id="7" name="Image 5" descr="preencoded.png"/>
          <p:cNvPicPr>
            <a:picLocks noChangeAspect="1"/>
          </p:cNvPicPr>
          <p:nvPr/>
        </p:nvPicPr>
        <p:blipFill>
          <a:blip r:embed="rId7"/>
          <a:stretch>
            <a:fillRect/>
          </a:stretch>
        </p:blipFill>
        <p:spPr>
          <a:xfrm>
            <a:off x="1905000" y="2857500"/>
            <a:ext cx="76200" cy="76200"/>
          </a:xfrm>
          <a:prstGeom prst="rect">
            <a:avLst/>
          </a:prstGeom>
        </p:spPr>
      </p:pic>
      <p:pic>
        <p:nvPicPr>
          <p:cNvPr id="8" name="Image 6" descr="preencoded.png"/>
          <p:cNvPicPr>
            <a:picLocks noChangeAspect="1"/>
          </p:cNvPicPr>
          <p:nvPr/>
        </p:nvPicPr>
        <p:blipFill>
          <a:blip r:embed="rId8"/>
          <a:stretch>
            <a:fillRect/>
          </a:stretch>
        </p:blipFill>
        <p:spPr>
          <a:xfrm>
            <a:off x="10687050" y="4400550"/>
            <a:ext cx="76200" cy="76200"/>
          </a:xfrm>
          <a:prstGeom prst="rect">
            <a:avLst/>
          </a:prstGeom>
        </p:spPr>
      </p:pic>
      <p:pic>
        <p:nvPicPr>
          <p:cNvPr id="9" name="Image 7" descr="preencoded.png"/>
          <p:cNvPicPr>
            <a:picLocks noChangeAspect="1"/>
          </p:cNvPicPr>
          <p:nvPr/>
        </p:nvPicPr>
        <p:blipFill>
          <a:blip r:embed="rId9"/>
          <a:stretch>
            <a:fillRect/>
          </a:stretch>
        </p:blipFill>
        <p:spPr>
          <a:xfrm>
            <a:off x="5715000" y="1504950"/>
            <a:ext cx="762000" cy="762000"/>
          </a:xfrm>
          <a:prstGeom prst="rect">
            <a:avLst/>
          </a:prstGeom>
        </p:spPr>
      </p:pic>
      <p:pic>
        <p:nvPicPr>
          <p:cNvPr id="10" name="Image 8" descr="preencoded.png"/>
          <p:cNvPicPr>
            <a:picLocks noChangeAspect="1"/>
          </p:cNvPicPr>
          <p:nvPr/>
        </p:nvPicPr>
        <p:blipFill>
          <a:blip r:embed="rId10"/>
          <a:stretch>
            <a:fillRect/>
          </a:stretch>
        </p:blipFill>
        <p:spPr>
          <a:xfrm>
            <a:off x="5924550" y="1695450"/>
            <a:ext cx="342900" cy="381000"/>
          </a:xfrm>
          <a:prstGeom prst="rect">
            <a:avLst/>
          </a:prstGeom>
        </p:spPr>
      </p:pic>
      <p:pic>
        <p:nvPicPr>
          <p:cNvPr id="11" name="Image 9" descr="preencoded.png"/>
          <p:cNvPicPr>
            <a:picLocks noChangeAspect="1"/>
          </p:cNvPicPr>
          <p:nvPr/>
        </p:nvPicPr>
        <p:blipFill>
          <a:blip r:embed="rId11"/>
          <a:stretch>
            <a:fillRect/>
          </a:stretch>
        </p:blipFill>
        <p:spPr>
          <a:xfrm>
            <a:off x="5638800" y="4781550"/>
            <a:ext cx="914400" cy="38100"/>
          </a:xfrm>
          <a:prstGeom prst="rect">
            <a:avLst/>
          </a:prstGeom>
        </p:spPr>
      </p:pic>
      <p:pic>
        <p:nvPicPr>
          <p:cNvPr id="12" name="Image 10" descr="preencoded.png"/>
          <p:cNvPicPr>
            <a:picLocks noChangeAspect="1"/>
          </p:cNvPicPr>
          <p:nvPr/>
        </p:nvPicPr>
        <p:blipFill>
          <a:blip r:embed="rId12"/>
          <a:stretch>
            <a:fillRect/>
          </a:stretch>
        </p:blipFill>
        <p:spPr>
          <a:xfrm>
            <a:off x="0" y="6629400"/>
            <a:ext cx="12192000" cy="228600"/>
          </a:xfrm>
          <a:prstGeom prst="rect">
            <a:avLst/>
          </a:prstGeom>
        </p:spPr>
      </p:pic>
      <p:sp>
        <p:nvSpPr>
          <p:cNvPr id="16" name="Text 3"/>
          <p:cNvSpPr/>
          <p:nvPr/>
        </p:nvSpPr>
        <p:spPr>
          <a:xfrm>
            <a:off x="1706880" y="2495550"/>
            <a:ext cx="8778240" cy="571500"/>
          </a:xfrm>
          <a:prstGeom prst="rect">
            <a:avLst/>
          </a:prstGeom>
          <a:noFill/>
          <a:ln/>
        </p:spPr>
        <p:txBody>
          <a:bodyPr vert="horz" wrap="square" lIns="0" tIns="0" rIns="0" bIns="0" rtlCol="0" anchor="t"/>
          <a:lstStyle/>
          <a:p>
            <a:pPr algn="ctr">
              <a:lnSpc>
                <a:spcPts val="4500"/>
              </a:lnSpc>
            </a:pPr>
            <a:r>
              <a:rPr lang="en-US" sz="4500" b="1" dirty="0" err="1">
                <a:solidFill>
                  <a:srgbClr val="008080"/>
                </a:solidFill>
                <a:latin typeface="ui-sans-serif" pitchFamily="34" charset="0"/>
                <a:ea typeface="ui-sans-serif" pitchFamily="34" charset="-122"/>
                <a:cs typeface="ui-sans-serif" pitchFamily="34" charset="-120"/>
              </a:rPr>
              <a:t>CellTutor</a:t>
            </a:r>
            <a:r>
              <a:rPr lang="en-US" sz="4500" b="1" dirty="0">
                <a:solidFill>
                  <a:srgbClr val="008080"/>
                </a:solidFill>
                <a:latin typeface="ui-sans-serif" pitchFamily="34" charset="0"/>
                <a:ea typeface="ui-sans-serif" pitchFamily="34" charset="-122"/>
                <a:cs typeface="ui-sans-serif" pitchFamily="34" charset="-120"/>
              </a:rPr>
              <a:t> Agent</a:t>
            </a:r>
            <a:endParaRPr lang="en-US" sz="4500" dirty="0"/>
          </a:p>
        </p:txBody>
      </p:sp>
      <p:sp>
        <p:nvSpPr>
          <p:cNvPr id="17" name="Text 4"/>
          <p:cNvSpPr/>
          <p:nvPr/>
        </p:nvSpPr>
        <p:spPr>
          <a:xfrm>
            <a:off x="1706880" y="3219450"/>
            <a:ext cx="8778240" cy="342900"/>
          </a:xfrm>
          <a:prstGeom prst="rect">
            <a:avLst/>
          </a:prstGeom>
          <a:noFill/>
          <a:ln/>
        </p:spPr>
        <p:txBody>
          <a:bodyPr vert="horz" wrap="square" lIns="0" tIns="0" rIns="0" bIns="0" rtlCol="0" anchor="t"/>
          <a:lstStyle/>
          <a:p>
            <a:pPr marL="0" indent="0" algn="ctr">
              <a:lnSpc>
                <a:spcPts val="2700"/>
              </a:lnSpc>
              <a:buNone/>
            </a:pPr>
            <a:r>
              <a:rPr lang="en-US" sz="2250" dirty="0">
                <a:solidFill>
                  <a:srgbClr val="374151"/>
                </a:solidFill>
                <a:latin typeface="ui-sans-serif" pitchFamily="34" charset="0"/>
                <a:ea typeface="ui-sans-serif" pitchFamily="34" charset="-122"/>
                <a:cs typeface="ui-sans-serif" pitchFamily="34" charset="-120"/>
              </a:rPr>
              <a:t>An AI-powered per-cell teaching agent</a:t>
            </a:r>
            <a:endParaRPr lang="en-US" sz="2250" dirty="0"/>
          </a:p>
        </p:txBody>
      </p:sp>
      <p:sp>
        <p:nvSpPr>
          <p:cNvPr id="18" name="Text 5"/>
          <p:cNvSpPr/>
          <p:nvPr/>
        </p:nvSpPr>
        <p:spPr>
          <a:xfrm>
            <a:off x="2438400" y="3867150"/>
            <a:ext cx="7315200" cy="533400"/>
          </a:xfrm>
          <a:prstGeom prst="rect">
            <a:avLst/>
          </a:prstGeom>
          <a:noFill/>
          <a:ln/>
        </p:spPr>
        <p:txBody>
          <a:bodyPr vert="horz" wrap="square" lIns="0" tIns="0" rIns="0" bIns="0" rtlCol="0" anchor="t"/>
          <a:lstStyle/>
          <a:p>
            <a:pPr marL="0" indent="0" algn="ctr">
              <a:lnSpc>
                <a:spcPts val="2100"/>
              </a:lnSpc>
              <a:buNone/>
            </a:pPr>
            <a:r>
              <a:rPr lang="en-US" sz="1500" dirty="0">
                <a:solidFill>
                  <a:srgbClr val="4B5563"/>
                </a:solidFill>
                <a:latin typeface="ui-sans-serif" pitchFamily="34" charset="0"/>
                <a:ea typeface="ui-sans-serif" pitchFamily="34" charset="-122"/>
                <a:cs typeface="ui-sans-serif" pitchFamily="34" charset="-120"/>
              </a:rPr>
              <a:t>Transforming static AI agentic course notebooks into immersive, interactive learning companions</a:t>
            </a:r>
            <a:endParaRPr lang="en-US" sz="1500" dirty="0"/>
          </a:p>
        </p:txBody>
      </p:sp>
      <p:sp>
        <p:nvSpPr>
          <p:cNvPr id="19" name="Text 6"/>
          <p:cNvSpPr/>
          <p:nvPr/>
        </p:nvSpPr>
        <p:spPr>
          <a:xfrm>
            <a:off x="2438400" y="5124450"/>
            <a:ext cx="3587413" cy="228600"/>
          </a:xfrm>
          <a:prstGeom prst="rect">
            <a:avLst/>
          </a:prstGeom>
          <a:noFill/>
          <a:ln/>
        </p:spPr>
        <p:txBody>
          <a:bodyPr vert="horz" wrap="square" lIns="0" tIns="0" rIns="0" bIns="0" rtlCol="0" anchor="t"/>
          <a:lstStyle/>
          <a:p>
            <a:pPr marL="0" indent="0" algn="l">
              <a:lnSpc>
                <a:spcPts val="1800"/>
              </a:lnSpc>
              <a:buNone/>
            </a:pPr>
            <a:r>
              <a:rPr lang="en-US" sz="1200" b="1" dirty="0" err="1">
                <a:solidFill>
                  <a:srgbClr val="008080"/>
                </a:solidFill>
                <a:latin typeface="ui-sans-serif" pitchFamily="34" charset="0"/>
                <a:ea typeface="ui-sans-serif" pitchFamily="34" charset="-122"/>
                <a:cs typeface="ui-sans-serif" pitchFamily="34" charset="-120"/>
              </a:rPr>
              <a:t>CellTutor</a:t>
            </a:r>
            <a:r>
              <a:rPr lang="en-US" sz="1200" b="1" dirty="0">
                <a:solidFill>
                  <a:srgbClr val="008080"/>
                </a:solidFill>
                <a:latin typeface="ui-sans-serif" pitchFamily="34" charset="0"/>
                <a:ea typeface="ui-sans-serif" pitchFamily="34" charset="-122"/>
                <a:cs typeface="ui-sans-serif" pitchFamily="34" charset="-120"/>
              </a:rPr>
              <a:t> Agent </a:t>
            </a:r>
            <a:r>
              <a:rPr lang="en-US" sz="1200" dirty="0">
                <a:solidFill>
                  <a:srgbClr val="4B5563"/>
                </a:solidFill>
                <a:latin typeface="ui-sans-serif" pitchFamily="34" charset="0"/>
                <a:ea typeface="ui-sans-serif" pitchFamily="34" charset="-122"/>
                <a:cs typeface="ui-sans-serif" pitchFamily="34" charset="-120"/>
              </a:rPr>
              <a:t>— Capstone Project</a:t>
            </a:r>
            <a:endParaRPr lang="en-US" sz="1200" dirty="0"/>
          </a:p>
        </p:txBody>
      </p:sp>
      <p:sp>
        <p:nvSpPr>
          <p:cNvPr id="20" name="Text 7"/>
          <p:cNvSpPr/>
          <p:nvPr/>
        </p:nvSpPr>
        <p:spPr>
          <a:xfrm>
            <a:off x="6945392" y="5124450"/>
            <a:ext cx="2808208" cy="228600"/>
          </a:xfrm>
          <a:prstGeom prst="rect">
            <a:avLst/>
          </a:prstGeom>
          <a:noFill/>
          <a:ln/>
        </p:spPr>
        <p:txBody>
          <a:bodyPr vert="horz" wrap="square" lIns="0" tIns="0" rIns="0" bIns="0" rtlCol="0" anchor="t"/>
          <a:lstStyle/>
          <a:p>
            <a:pPr marL="0" indent="0" algn="r">
              <a:lnSpc>
                <a:spcPts val="1800"/>
              </a:lnSpc>
              <a:buNone/>
            </a:pPr>
            <a:r>
              <a:rPr lang="en-US" sz="1200" dirty="0">
                <a:solidFill>
                  <a:srgbClr val="4B5563"/>
                </a:solidFill>
                <a:latin typeface="ui-sans-serif" pitchFamily="34" charset="0"/>
                <a:ea typeface="ui-sans-serif" pitchFamily="34" charset="-122"/>
                <a:cs typeface="ui-sans-serif" pitchFamily="34" charset="-120"/>
              </a:rPr>
              <a:t>Manikant Amaresh Savadatti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81000" y="1219200"/>
            <a:ext cx="5600700" cy="1181100"/>
          </a:xfrm>
          <a:prstGeom prst="rect">
            <a:avLst/>
          </a:prstGeom>
        </p:spPr>
      </p:pic>
      <p:pic>
        <p:nvPicPr>
          <p:cNvPr id="5" name="Image 3" descr="preencoded.png"/>
          <p:cNvPicPr>
            <a:picLocks noChangeAspect="1"/>
          </p:cNvPicPr>
          <p:nvPr/>
        </p:nvPicPr>
        <p:blipFill>
          <a:blip r:embed="rId6"/>
          <a:stretch>
            <a:fillRect/>
          </a:stretch>
        </p:blipFill>
        <p:spPr>
          <a:xfrm>
            <a:off x="571500" y="1409700"/>
            <a:ext cx="504825" cy="609600"/>
          </a:xfrm>
          <a:prstGeom prst="rect">
            <a:avLst/>
          </a:prstGeom>
        </p:spPr>
      </p:pic>
      <p:pic>
        <p:nvPicPr>
          <p:cNvPr id="6" name="Image 4" descr="preencoded.png"/>
          <p:cNvPicPr>
            <a:picLocks noChangeAspect="1"/>
          </p:cNvPicPr>
          <p:nvPr/>
        </p:nvPicPr>
        <p:blipFill>
          <a:blip r:embed="rId7"/>
          <a:stretch>
            <a:fillRect/>
          </a:stretch>
        </p:blipFill>
        <p:spPr>
          <a:xfrm>
            <a:off x="723900" y="1562100"/>
            <a:ext cx="200025" cy="304800"/>
          </a:xfrm>
          <a:prstGeom prst="rect">
            <a:avLst/>
          </a:prstGeom>
        </p:spPr>
      </p:pic>
      <p:pic>
        <p:nvPicPr>
          <p:cNvPr id="7" name="Image 5" descr="preencoded.png"/>
          <p:cNvPicPr>
            <a:picLocks noChangeAspect="1"/>
          </p:cNvPicPr>
          <p:nvPr/>
        </p:nvPicPr>
        <p:blipFill>
          <a:blip r:embed="rId5"/>
          <a:stretch>
            <a:fillRect/>
          </a:stretch>
        </p:blipFill>
        <p:spPr>
          <a:xfrm>
            <a:off x="6210300" y="1219200"/>
            <a:ext cx="5600700" cy="1181100"/>
          </a:xfrm>
          <a:prstGeom prst="rect">
            <a:avLst/>
          </a:prstGeom>
        </p:spPr>
      </p:pic>
      <p:pic>
        <p:nvPicPr>
          <p:cNvPr id="8" name="Image 6" descr="preencoded.png"/>
          <p:cNvPicPr>
            <a:picLocks noChangeAspect="1"/>
          </p:cNvPicPr>
          <p:nvPr/>
        </p:nvPicPr>
        <p:blipFill>
          <a:blip r:embed="rId8"/>
          <a:stretch>
            <a:fillRect/>
          </a:stretch>
        </p:blipFill>
        <p:spPr>
          <a:xfrm>
            <a:off x="6400800" y="1409700"/>
            <a:ext cx="304800" cy="304800"/>
          </a:xfrm>
          <a:prstGeom prst="rect">
            <a:avLst/>
          </a:prstGeom>
        </p:spPr>
      </p:pic>
      <p:pic>
        <p:nvPicPr>
          <p:cNvPr id="9" name="Image 7" descr="preencoded.png"/>
          <p:cNvPicPr>
            <a:picLocks noChangeAspect="1"/>
          </p:cNvPicPr>
          <p:nvPr/>
        </p:nvPicPr>
        <p:blipFill>
          <a:blip r:embed="rId5"/>
          <a:stretch>
            <a:fillRect/>
          </a:stretch>
        </p:blipFill>
        <p:spPr>
          <a:xfrm>
            <a:off x="381000" y="2628900"/>
            <a:ext cx="5600700" cy="1181100"/>
          </a:xfrm>
          <a:prstGeom prst="rect">
            <a:avLst/>
          </a:prstGeom>
        </p:spPr>
      </p:pic>
      <p:pic>
        <p:nvPicPr>
          <p:cNvPr id="10" name="Image 8" descr="preencoded.png"/>
          <p:cNvPicPr>
            <a:picLocks noChangeAspect="1"/>
          </p:cNvPicPr>
          <p:nvPr/>
        </p:nvPicPr>
        <p:blipFill>
          <a:blip r:embed="rId9"/>
          <a:stretch>
            <a:fillRect/>
          </a:stretch>
        </p:blipFill>
        <p:spPr>
          <a:xfrm>
            <a:off x="571500" y="2819400"/>
            <a:ext cx="533400" cy="609600"/>
          </a:xfrm>
          <a:prstGeom prst="rect">
            <a:avLst/>
          </a:prstGeom>
        </p:spPr>
      </p:pic>
      <p:pic>
        <p:nvPicPr>
          <p:cNvPr id="11" name="Image 9" descr="preencoded.png"/>
          <p:cNvPicPr>
            <a:picLocks noChangeAspect="1"/>
          </p:cNvPicPr>
          <p:nvPr/>
        </p:nvPicPr>
        <p:blipFill>
          <a:blip r:embed="rId10"/>
          <a:stretch>
            <a:fillRect/>
          </a:stretch>
        </p:blipFill>
        <p:spPr>
          <a:xfrm>
            <a:off x="723900" y="2971800"/>
            <a:ext cx="228600" cy="304800"/>
          </a:xfrm>
          <a:prstGeom prst="rect">
            <a:avLst/>
          </a:prstGeom>
        </p:spPr>
      </p:pic>
      <p:pic>
        <p:nvPicPr>
          <p:cNvPr id="12" name="Image 10" descr="preencoded.png"/>
          <p:cNvPicPr>
            <a:picLocks noChangeAspect="1"/>
          </p:cNvPicPr>
          <p:nvPr/>
        </p:nvPicPr>
        <p:blipFill>
          <a:blip r:embed="rId5"/>
          <a:stretch>
            <a:fillRect/>
          </a:stretch>
        </p:blipFill>
        <p:spPr>
          <a:xfrm>
            <a:off x="6210300" y="2628900"/>
            <a:ext cx="5600700" cy="1181100"/>
          </a:xfrm>
          <a:prstGeom prst="rect">
            <a:avLst/>
          </a:prstGeom>
        </p:spPr>
      </p:pic>
      <p:pic>
        <p:nvPicPr>
          <p:cNvPr id="13" name="Image 11" descr="preencoded.png"/>
          <p:cNvPicPr>
            <a:picLocks noChangeAspect="1"/>
          </p:cNvPicPr>
          <p:nvPr/>
        </p:nvPicPr>
        <p:blipFill>
          <a:blip r:embed="rId11"/>
          <a:stretch>
            <a:fillRect/>
          </a:stretch>
        </p:blipFill>
        <p:spPr>
          <a:xfrm>
            <a:off x="6400800" y="2819400"/>
            <a:ext cx="476250" cy="609600"/>
          </a:xfrm>
          <a:prstGeom prst="rect">
            <a:avLst/>
          </a:prstGeom>
        </p:spPr>
      </p:pic>
      <p:pic>
        <p:nvPicPr>
          <p:cNvPr id="14" name="Image 12" descr="preencoded.png"/>
          <p:cNvPicPr>
            <a:picLocks noChangeAspect="1"/>
          </p:cNvPicPr>
          <p:nvPr/>
        </p:nvPicPr>
        <p:blipFill>
          <a:blip r:embed="rId12"/>
          <a:stretch>
            <a:fillRect/>
          </a:stretch>
        </p:blipFill>
        <p:spPr>
          <a:xfrm>
            <a:off x="6553200" y="2971800"/>
            <a:ext cx="171450" cy="304800"/>
          </a:xfrm>
          <a:prstGeom prst="rect">
            <a:avLst/>
          </a:prstGeom>
        </p:spPr>
      </p:pic>
      <p:pic>
        <p:nvPicPr>
          <p:cNvPr id="15" name="Image 13" descr="preencoded.png"/>
          <p:cNvPicPr>
            <a:picLocks noChangeAspect="1"/>
          </p:cNvPicPr>
          <p:nvPr/>
        </p:nvPicPr>
        <p:blipFill>
          <a:blip r:embed="rId13"/>
          <a:stretch>
            <a:fillRect/>
          </a:stretch>
        </p:blipFill>
        <p:spPr>
          <a:xfrm>
            <a:off x="381000" y="4114800"/>
            <a:ext cx="11430000" cy="1028700"/>
          </a:xfrm>
          <a:prstGeom prst="rect">
            <a:avLst/>
          </a:prstGeom>
        </p:spPr>
      </p:pic>
      <p:pic>
        <p:nvPicPr>
          <p:cNvPr id="16" name="Image 14" descr="preencoded.png"/>
          <p:cNvPicPr>
            <a:picLocks noChangeAspect="1"/>
          </p:cNvPicPr>
          <p:nvPr/>
        </p:nvPicPr>
        <p:blipFill>
          <a:blip r:embed="rId14"/>
          <a:stretch>
            <a:fillRect/>
          </a:stretch>
        </p:blipFill>
        <p:spPr>
          <a:xfrm>
            <a:off x="571500" y="4686300"/>
            <a:ext cx="190500" cy="266700"/>
          </a:xfrm>
          <a:prstGeom prst="rect">
            <a:avLst/>
          </a:prstGeom>
        </p:spPr>
      </p:pic>
      <p:pic>
        <p:nvPicPr>
          <p:cNvPr id="17" name="Image 15" descr="preencoded.png"/>
          <p:cNvPicPr>
            <a:picLocks noChangeAspect="1"/>
          </p:cNvPicPr>
          <p:nvPr/>
        </p:nvPicPr>
        <p:blipFill>
          <a:blip r:embed="rId15"/>
          <a:stretch>
            <a:fillRect/>
          </a:stretch>
        </p:blipFill>
        <p:spPr>
          <a:xfrm>
            <a:off x="6737747" y="4686300"/>
            <a:ext cx="142875" cy="266700"/>
          </a:xfrm>
          <a:prstGeom prst="rect">
            <a:avLst/>
          </a:prstGeom>
        </p:spPr>
      </p:pic>
      <p:pic>
        <p:nvPicPr>
          <p:cNvPr id="18" name="Image 16" descr="preencoded.png"/>
          <p:cNvPicPr>
            <a:picLocks noChangeAspect="1"/>
          </p:cNvPicPr>
          <p:nvPr/>
        </p:nvPicPr>
        <p:blipFill>
          <a:blip r:embed="rId16"/>
          <a:stretch>
            <a:fillRect/>
          </a:stretch>
        </p:blipFill>
        <p:spPr>
          <a:xfrm>
            <a:off x="9189541" y="4686300"/>
            <a:ext cx="190500" cy="266700"/>
          </a:xfrm>
          <a:prstGeom prst="rect">
            <a:avLst/>
          </a:prstGeom>
        </p:spPr>
      </p:pic>
      <p:pic>
        <p:nvPicPr>
          <p:cNvPr id="19" name="Image 17" descr="preencoded.png"/>
          <p:cNvPicPr>
            <a:picLocks noChangeAspect="1"/>
          </p:cNvPicPr>
          <p:nvPr/>
        </p:nvPicPr>
        <p:blipFill>
          <a:blip r:embed="rId17"/>
          <a:stretch>
            <a:fillRect/>
          </a:stretch>
        </p:blipFill>
        <p:spPr>
          <a:xfrm>
            <a:off x="0" y="6477000"/>
            <a:ext cx="12192000" cy="381000"/>
          </a:xfrm>
          <a:prstGeom prst="rect">
            <a:avLst/>
          </a:prstGeom>
        </p:spPr>
      </p:pic>
      <p:sp>
        <p:nvSpPr>
          <p:cNvPr id="20" name="Text 0"/>
          <p:cNvSpPr/>
          <p:nvPr/>
        </p:nvSpPr>
        <p:spPr>
          <a:xfrm>
            <a:off x="457200" y="2286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The Problem with Traditional Notebooks</a:t>
            </a:r>
            <a:endParaRPr lang="en-US" sz="2700" dirty="0"/>
          </a:p>
        </p:txBody>
      </p:sp>
      <p:sp>
        <p:nvSpPr>
          <p:cNvPr id="21" name="Text 1"/>
          <p:cNvSpPr/>
          <p:nvPr/>
        </p:nvSpPr>
        <p:spPr>
          <a:xfrm>
            <a:off x="1228725" y="1409700"/>
            <a:ext cx="547497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Text-heavy Explanations</a:t>
            </a:r>
            <a:endParaRPr lang="en-US" sz="1500" dirty="0"/>
          </a:p>
        </p:txBody>
      </p:sp>
      <p:sp>
        <p:nvSpPr>
          <p:cNvPr id="22" name="Text 2"/>
          <p:cNvSpPr/>
          <p:nvPr/>
        </p:nvSpPr>
        <p:spPr>
          <a:xfrm>
            <a:off x="1228725" y="1752600"/>
            <a:ext cx="4562475"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Explanations presented as long blocks of text, difficult to digest and retain.</a:t>
            </a:r>
            <a:endParaRPr lang="en-US" sz="1200" dirty="0"/>
          </a:p>
        </p:txBody>
      </p:sp>
      <p:sp>
        <p:nvSpPr>
          <p:cNvPr id="23" name="Text 3"/>
          <p:cNvSpPr/>
          <p:nvPr/>
        </p:nvSpPr>
        <p:spPr>
          <a:xfrm>
            <a:off x="6858000" y="1409700"/>
            <a:ext cx="47625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Lack of Visuals</a:t>
            </a:r>
            <a:endParaRPr lang="en-US" sz="1500" dirty="0"/>
          </a:p>
        </p:txBody>
      </p:sp>
      <p:sp>
        <p:nvSpPr>
          <p:cNvPr id="24" name="Text 4"/>
          <p:cNvSpPr/>
          <p:nvPr/>
        </p:nvSpPr>
        <p:spPr>
          <a:xfrm>
            <a:off x="6858000" y="1752600"/>
            <a:ext cx="47625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Absence of diagrams or animations to illustrate code flow, data structures, or variable changes.</a:t>
            </a:r>
            <a:endParaRPr lang="en-US" sz="1200" dirty="0"/>
          </a:p>
        </p:txBody>
      </p:sp>
      <p:sp>
        <p:nvSpPr>
          <p:cNvPr id="25" name="Text 5"/>
          <p:cNvSpPr/>
          <p:nvPr/>
        </p:nvSpPr>
        <p:spPr>
          <a:xfrm>
            <a:off x="1257300" y="2819400"/>
            <a:ext cx="54406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No In-cell Questioning</a:t>
            </a:r>
            <a:endParaRPr lang="en-US" sz="1500" dirty="0"/>
          </a:p>
        </p:txBody>
      </p:sp>
      <p:sp>
        <p:nvSpPr>
          <p:cNvPr id="26" name="Text 6"/>
          <p:cNvSpPr/>
          <p:nvPr/>
        </p:nvSpPr>
        <p:spPr>
          <a:xfrm>
            <a:off x="1257300" y="3162300"/>
            <a:ext cx="45339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Students cannot ask questions directly within a code cell, forcing them to seek external resources.</a:t>
            </a:r>
            <a:endParaRPr lang="en-US" sz="1200" dirty="0"/>
          </a:p>
        </p:txBody>
      </p:sp>
      <p:sp>
        <p:nvSpPr>
          <p:cNvPr id="27" name="Text 7"/>
          <p:cNvSpPr/>
          <p:nvPr/>
        </p:nvSpPr>
        <p:spPr>
          <a:xfrm>
            <a:off x="7029450" y="2819400"/>
            <a:ext cx="55092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Absence of Immediate Assessment</a:t>
            </a:r>
            <a:endParaRPr lang="en-US" sz="1500" dirty="0"/>
          </a:p>
        </p:txBody>
      </p:sp>
      <p:sp>
        <p:nvSpPr>
          <p:cNvPr id="28" name="Text 8"/>
          <p:cNvSpPr/>
          <p:nvPr/>
        </p:nvSpPr>
        <p:spPr>
          <a:xfrm>
            <a:off x="7029450" y="3162300"/>
            <a:ext cx="45910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No mechanisms to test understanding before proceeding, leading to knowledge gaps.</a:t>
            </a:r>
            <a:endParaRPr lang="en-US" sz="1200" dirty="0"/>
          </a:p>
        </p:txBody>
      </p:sp>
      <p:sp>
        <p:nvSpPr>
          <p:cNvPr id="29" name="Text 9"/>
          <p:cNvSpPr/>
          <p:nvPr/>
        </p:nvSpPr>
        <p:spPr>
          <a:xfrm>
            <a:off x="571500" y="4305300"/>
            <a:ext cx="110490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Consequences:</a:t>
            </a:r>
            <a:endParaRPr lang="en-US" sz="1500" dirty="0"/>
          </a:p>
        </p:txBody>
      </p:sp>
      <p:sp>
        <p:nvSpPr>
          <p:cNvPr id="30" name="Text 10"/>
          <p:cNvSpPr/>
          <p:nvPr/>
        </p:nvSpPr>
        <p:spPr>
          <a:xfrm>
            <a:off x="838200" y="4705350"/>
            <a:ext cx="2301895"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Low knowledge retention</a:t>
            </a:r>
            <a:endParaRPr lang="en-US" sz="1200" dirty="0"/>
          </a:p>
        </p:txBody>
      </p:sp>
      <p:sp>
        <p:nvSpPr>
          <p:cNvPr id="31" name="Text 11"/>
          <p:cNvSpPr/>
          <p:nvPr/>
        </p:nvSpPr>
        <p:spPr>
          <a:xfrm>
            <a:off x="4038154" y="4705350"/>
            <a:ext cx="1792903"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Student overwhelm</a:t>
            </a:r>
            <a:endParaRPr lang="en-US" sz="1200" dirty="0"/>
          </a:p>
        </p:txBody>
      </p:sp>
      <p:sp>
        <p:nvSpPr>
          <p:cNvPr id="32" name="Text 12"/>
          <p:cNvSpPr/>
          <p:nvPr/>
        </p:nvSpPr>
        <p:spPr>
          <a:xfrm>
            <a:off x="6956822" y="4705350"/>
            <a:ext cx="1232654"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Slow learning</a:t>
            </a:r>
            <a:endParaRPr lang="en-US" sz="1200" dirty="0"/>
          </a:p>
        </p:txBody>
      </p:sp>
      <p:sp>
        <p:nvSpPr>
          <p:cNvPr id="33" name="Text 13"/>
          <p:cNvSpPr/>
          <p:nvPr/>
        </p:nvSpPr>
        <p:spPr>
          <a:xfrm>
            <a:off x="9456241" y="4705350"/>
            <a:ext cx="2596753"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Unscalable manual teaching</a:t>
            </a:r>
            <a:endParaRPr lang="en-US" sz="1200" dirty="0"/>
          </a:p>
        </p:txBody>
      </p:sp>
      <p:sp>
        <p:nvSpPr>
          <p:cNvPr id="34" name="Text 14"/>
          <p:cNvSpPr/>
          <p:nvPr/>
        </p:nvSpPr>
        <p:spPr>
          <a:xfrm>
            <a:off x="381000" y="6553200"/>
            <a:ext cx="139999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Agent CellTutor</a:t>
            </a:r>
            <a:endParaRPr lang="en-US" sz="1200" dirty="0"/>
          </a:p>
        </p:txBody>
      </p:sp>
      <p:sp>
        <p:nvSpPr>
          <p:cNvPr id="35" name="Text 15"/>
          <p:cNvSpPr/>
          <p:nvPr/>
        </p:nvSpPr>
        <p:spPr>
          <a:xfrm>
            <a:off x="11565731" y="6553200"/>
            <a:ext cx="294322"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2/8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81000" y="2057400"/>
            <a:ext cx="3657600" cy="2209800"/>
          </a:xfrm>
          <a:prstGeom prst="rect">
            <a:avLst/>
          </a:prstGeom>
        </p:spPr>
      </p:pic>
      <p:pic>
        <p:nvPicPr>
          <p:cNvPr id="5" name="Image 3" descr="preencoded.png"/>
          <p:cNvPicPr>
            <a:picLocks noChangeAspect="1"/>
          </p:cNvPicPr>
          <p:nvPr/>
        </p:nvPicPr>
        <p:blipFill>
          <a:blip r:embed="rId6"/>
          <a:stretch>
            <a:fillRect/>
          </a:stretch>
        </p:blipFill>
        <p:spPr>
          <a:xfrm>
            <a:off x="1895475" y="2247900"/>
            <a:ext cx="628650" cy="647700"/>
          </a:xfrm>
          <a:prstGeom prst="rect">
            <a:avLst/>
          </a:prstGeom>
        </p:spPr>
      </p:pic>
      <p:pic>
        <p:nvPicPr>
          <p:cNvPr id="6" name="Image 4" descr="preencoded.png"/>
          <p:cNvPicPr>
            <a:picLocks noChangeAspect="1"/>
          </p:cNvPicPr>
          <p:nvPr/>
        </p:nvPicPr>
        <p:blipFill>
          <a:blip r:embed="rId7"/>
          <a:stretch>
            <a:fillRect/>
          </a:stretch>
        </p:blipFill>
        <p:spPr>
          <a:xfrm>
            <a:off x="2047875" y="2400300"/>
            <a:ext cx="323850" cy="342900"/>
          </a:xfrm>
          <a:prstGeom prst="rect">
            <a:avLst/>
          </a:prstGeom>
        </p:spPr>
      </p:pic>
      <p:pic>
        <p:nvPicPr>
          <p:cNvPr id="7" name="Image 5" descr="preencoded.png"/>
          <p:cNvPicPr>
            <a:picLocks noChangeAspect="1"/>
          </p:cNvPicPr>
          <p:nvPr/>
        </p:nvPicPr>
        <p:blipFill>
          <a:blip r:embed="rId5"/>
          <a:stretch>
            <a:fillRect/>
          </a:stretch>
        </p:blipFill>
        <p:spPr>
          <a:xfrm>
            <a:off x="4267200" y="2057400"/>
            <a:ext cx="3657600" cy="2209800"/>
          </a:xfrm>
          <a:prstGeom prst="rect">
            <a:avLst/>
          </a:prstGeom>
        </p:spPr>
      </p:pic>
      <p:pic>
        <p:nvPicPr>
          <p:cNvPr id="8" name="Image 6" descr="preencoded.png"/>
          <p:cNvPicPr>
            <a:picLocks noChangeAspect="1"/>
          </p:cNvPicPr>
          <p:nvPr/>
        </p:nvPicPr>
        <p:blipFill>
          <a:blip r:embed="rId8"/>
          <a:stretch>
            <a:fillRect/>
          </a:stretch>
        </p:blipFill>
        <p:spPr>
          <a:xfrm>
            <a:off x="5762625" y="2247900"/>
            <a:ext cx="666750" cy="647700"/>
          </a:xfrm>
          <a:prstGeom prst="rect">
            <a:avLst/>
          </a:prstGeom>
        </p:spPr>
      </p:pic>
      <p:pic>
        <p:nvPicPr>
          <p:cNvPr id="9" name="Image 7" descr="preencoded.png"/>
          <p:cNvPicPr>
            <a:picLocks noChangeAspect="1"/>
          </p:cNvPicPr>
          <p:nvPr/>
        </p:nvPicPr>
        <p:blipFill>
          <a:blip r:embed="rId9"/>
          <a:stretch>
            <a:fillRect/>
          </a:stretch>
        </p:blipFill>
        <p:spPr>
          <a:xfrm>
            <a:off x="5915025" y="2400300"/>
            <a:ext cx="361950" cy="342900"/>
          </a:xfrm>
          <a:prstGeom prst="rect">
            <a:avLst/>
          </a:prstGeom>
        </p:spPr>
      </p:pic>
      <p:pic>
        <p:nvPicPr>
          <p:cNvPr id="10" name="Image 8" descr="preencoded.png"/>
          <p:cNvPicPr>
            <a:picLocks noChangeAspect="1"/>
          </p:cNvPicPr>
          <p:nvPr/>
        </p:nvPicPr>
        <p:blipFill>
          <a:blip r:embed="rId10"/>
          <a:stretch>
            <a:fillRect/>
          </a:stretch>
        </p:blipFill>
        <p:spPr>
          <a:xfrm>
            <a:off x="8153400" y="2057400"/>
            <a:ext cx="3657600" cy="2209800"/>
          </a:xfrm>
          <a:prstGeom prst="rect">
            <a:avLst/>
          </a:prstGeom>
        </p:spPr>
      </p:pic>
      <p:pic>
        <p:nvPicPr>
          <p:cNvPr id="11" name="Image 9" descr="preencoded.png"/>
          <p:cNvPicPr>
            <a:picLocks noChangeAspect="1"/>
          </p:cNvPicPr>
          <p:nvPr/>
        </p:nvPicPr>
        <p:blipFill>
          <a:blip r:embed="rId11"/>
          <a:stretch>
            <a:fillRect/>
          </a:stretch>
        </p:blipFill>
        <p:spPr>
          <a:xfrm>
            <a:off x="9686925" y="2247900"/>
            <a:ext cx="590550" cy="647700"/>
          </a:xfrm>
          <a:prstGeom prst="rect">
            <a:avLst/>
          </a:prstGeom>
        </p:spPr>
      </p:pic>
      <p:pic>
        <p:nvPicPr>
          <p:cNvPr id="12" name="Image 10" descr="preencoded.png"/>
          <p:cNvPicPr>
            <a:picLocks noChangeAspect="1"/>
          </p:cNvPicPr>
          <p:nvPr/>
        </p:nvPicPr>
        <p:blipFill>
          <a:blip r:embed="rId12"/>
          <a:stretch>
            <a:fillRect/>
          </a:stretch>
        </p:blipFill>
        <p:spPr>
          <a:xfrm>
            <a:off x="9839325" y="2400300"/>
            <a:ext cx="285750" cy="342900"/>
          </a:xfrm>
          <a:prstGeom prst="rect">
            <a:avLst/>
          </a:prstGeom>
        </p:spPr>
      </p:pic>
      <p:pic>
        <p:nvPicPr>
          <p:cNvPr id="13" name="Image 11" descr="preencoded.png"/>
          <p:cNvPicPr>
            <a:picLocks noChangeAspect="1"/>
          </p:cNvPicPr>
          <p:nvPr/>
        </p:nvPicPr>
        <p:blipFill>
          <a:blip r:embed="rId13"/>
          <a:stretch>
            <a:fillRect/>
          </a:stretch>
        </p:blipFill>
        <p:spPr>
          <a:xfrm>
            <a:off x="381000" y="4572000"/>
            <a:ext cx="11430000" cy="1447800"/>
          </a:xfrm>
          <a:prstGeom prst="rect">
            <a:avLst/>
          </a:prstGeom>
        </p:spPr>
      </p:pic>
      <p:pic>
        <p:nvPicPr>
          <p:cNvPr id="14" name="Image 12" descr="preencoded.png"/>
          <p:cNvPicPr>
            <a:picLocks noChangeAspect="1"/>
          </p:cNvPicPr>
          <p:nvPr/>
        </p:nvPicPr>
        <p:blipFill>
          <a:blip r:embed="rId14"/>
          <a:stretch>
            <a:fillRect/>
          </a:stretch>
        </p:blipFill>
        <p:spPr>
          <a:xfrm>
            <a:off x="571500" y="5143500"/>
            <a:ext cx="238125" cy="266700"/>
          </a:xfrm>
          <a:prstGeom prst="rect">
            <a:avLst/>
          </a:prstGeom>
        </p:spPr>
      </p:pic>
      <p:pic>
        <p:nvPicPr>
          <p:cNvPr id="15" name="Image 13" descr="preencoded.png"/>
          <p:cNvPicPr>
            <a:picLocks noChangeAspect="1"/>
          </p:cNvPicPr>
          <p:nvPr/>
        </p:nvPicPr>
        <p:blipFill>
          <a:blip r:embed="rId15"/>
          <a:stretch>
            <a:fillRect/>
          </a:stretch>
        </p:blipFill>
        <p:spPr>
          <a:xfrm>
            <a:off x="4305300" y="5143500"/>
            <a:ext cx="219075" cy="266700"/>
          </a:xfrm>
          <a:prstGeom prst="rect">
            <a:avLst/>
          </a:prstGeom>
        </p:spPr>
      </p:pic>
      <p:pic>
        <p:nvPicPr>
          <p:cNvPr id="16" name="Image 14" descr="preencoded.png"/>
          <p:cNvPicPr>
            <a:picLocks noChangeAspect="1"/>
          </p:cNvPicPr>
          <p:nvPr/>
        </p:nvPicPr>
        <p:blipFill>
          <a:blip r:embed="rId16"/>
          <a:stretch>
            <a:fillRect/>
          </a:stretch>
        </p:blipFill>
        <p:spPr>
          <a:xfrm>
            <a:off x="8039100" y="5143500"/>
            <a:ext cx="190500" cy="266700"/>
          </a:xfrm>
          <a:prstGeom prst="rect">
            <a:avLst/>
          </a:prstGeom>
        </p:spPr>
      </p:pic>
      <p:pic>
        <p:nvPicPr>
          <p:cNvPr id="17" name="Image 15" descr="preencoded.png"/>
          <p:cNvPicPr>
            <a:picLocks noChangeAspect="1"/>
          </p:cNvPicPr>
          <p:nvPr/>
        </p:nvPicPr>
        <p:blipFill>
          <a:blip r:embed="rId17"/>
          <a:stretch>
            <a:fillRect/>
          </a:stretch>
        </p:blipFill>
        <p:spPr>
          <a:xfrm>
            <a:off x="571500" y="5562600"/>
            <a:ext cx="190500" cy="266700"/>
          </a:xfrm>
          <a:prstGeom prst="rect">
            <a:avLst/>
          </a:prstGeom>
        </p:spPr>
      </p:pic>
      <p:pic>
        <p:nvPicPr>
          <p:cNvPr id="18" name="Image 16" descr="preencoded.png"/>
          <p:cNvPicPr>
            <a:picLocks noChangeAspect="1"/>
          </p:cNvPicPr>
          <p:nvPr/>
        </p:nvPicPr>
        <p:blipFill>
          <a:blip r:embed="rId18"/>
          <a:stretch>
            <a:fillRect/>
          </a:stretch>
        </p:blipFill>
        <p:spPr>
          <a:xfrm>
            <a:off x="4305300" y="5562600"/>
            <a:ext cx="142875" cy="266700"/>
          </a:xfrm>
          <a:prstGeom prst="rect">
            <a:avLst/>
          </a:prstGeom>
        </p:spPr>
      </p:pic>
      <p:pic>
        <p:nvPicPr>
          <p:cNvPr id="19" name="Image 17" descr="preencoded.png"/>
          <p:cNvPicPr>
            <a:picLocks noChangeAspect="1"/>
          </p:cNvPicPr>
          <p:nvPr/>
        </p:nvPicPr>
        <p:blipFill>
          <a:blip r:embed="rId19"/>
          <a:stretch>
            <a:fillRect/>
          </a:stretch>
        </p:blipFill>
        <p:spPr>
          <a:xfrm>
            <a:off x="0" y="6477000"/>
            <a:ext cx="12192000" cy="381000"/>
          </a:xfrm>
          <a:prstGeom prst="rect">
            <a:avLst/>
          </a:prstGeom>
        </p:spPr>
      </p:pic>
      <p:sp>
        <p:nvSpPr>
          <p:cNvPr id="20" name="Text 0"/>
          <p:cNvSpPr/>
          <p:nvPr/>
        </p:nvSpPr>
        <p:spPr>
          <a:xfrm>
            <a:off x="457200" y="2286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Agent CellTutor Solution</a:t>
            </a:r>
            <a:endParaRPr lang="en-US" sz="2700" dirty="0"/>
          </a:p>
        </p:txBody>
      </p:sp>
      <p:sp>
        <p:nvSpPr>
          <p:cNvPr id="21" name="Text 1"/>
          <p:cNvSpPr/>
          <p:nvPr/>
        </p:nvSpPr>
        <p:spPr>
          <a:xfrm>
            <a:off x="381000" y="1219200"/>
            <a:ext cx="11430000" cy="533400"/>
          </a:xfrm>
          <a:prstGeom prst="rect">
            <a:avLst/>
          </a:prstGeom>
          <a:noFill/>
          <a:ln/>
        </p:spPr>
        <p:txBody>
          <a:bodyPr vert="horz" wrap="square" lIns="0" tIns="0" rIns="0" bIns="0" rtlCol="0" anchor="t"/>
          <a:lstStyle/>
          <a:p>
            <a:pPr marL="0" indent="0" algn="ctr">
              <a:lnSpc>
                <a:spcPts val="2100"/>
              </a:lnSpc>
              <a:buNone/>
            </a:pPr>
            <a:r>
              <a:rPr lang="en-US" sz="1500" dirty="0">
                <a:solidFill>
                  <a:srgbClr val="374151"/>
                </a:solidFill>
                <a:latin typeface="ui-sans-serif" pitchFamily="34" charset="0"/>
                <a:ea typeface="ui-sans-serif" pitchFamily="34" charset="-122"/>
                <a:cs typeface="ui-sans-serif" pitchFamily="34" charset="-120"/>
              </a:rPr>
              <a:t>Agent CellTutor transforms each notebook cell into an </a:t>
            </a:r>
            <a:r>
              <a:rPr lang="en-US" sz="1500" b="1" dirty="0">
                <a:solidFill>
                  <a:srgbClr val="008080"/>
                </a:solidFill>
                <a:latin typeface="ui-sans-serif" pitchFamily="34" charset="0"/>
                <a:ea typeface="ui-sans-serif" pitchFamily="34" charset="-122"/>
                <a:cs typeface="ui-sans-serif" pitchFamily="34" charset="-120"/>
              </a:rPr>
              <a:t>intelligent tutor</a:t>
            </a:r>
            <a:r>
              <a:rPr lang="en-US" sz="1500" dirty="0">
                <a:solidFill>
                  <a:srgbClr val="374151"/>
                </a:solidFill>
                <a:latin typeface="ui-sans-serif" pitchFamily="34" charset="0"/>
                <a:ea typeface="ui-sans-serif" pitchFamily="34" charset="-122"/>
                <a:cs typeface="ui-sans-serif" pitchFamily="34" charset="-120"/>
              </a:rPr>
              <a:t>, changing learning from passive consumption to active engagement.</a:t>
            </a:r>
            <a:endParaRPr lang="en-US" sz="1500" dirty="0"/>
          </a:p>
        </p:txBody>
      </p:sp>
      <p:sp>
        <p:nvSpPr>
          <p:cNvPr id="22" name="Text 2"/>
          <p:cNvSpPr/>
          <p:nvPr/>
        </p:nvSpPr>
        <p:spPr>
          <a:xfrm>
            <a:off x="461739" y="3048000"/>
            <a:ext cx="3495973"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Visual Code Understanding</a:t>
            </a:r>
            <a:endParaRPr lang="en-US" sz="1500" dirty="0"/>
          </a:p>
        </p:txBody>
      </p:sp>
      <p:sp>
        <p:nvSpPr>
          <p:cNvPr id="23" name="Text 3"/>
          <p:cNvSpPr/>
          <p:nvPr/>
        </p:nvSpPr>
        <p:spPr>
          <a:xfrm>
            <a:off x="571500" y="3390900"/>
            <a:ext cx="3276600"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Code explained with visual diagrams and animations, making complex logic intuitive.</a:t>
            </a:r>
            <a:endParaRPr lang="en-US" sz="1200" dirty="0"/>
          </a:p>
        </p:txBody>
      </p:sp>
      <p:sp>
        <p:nvSpPr>
          <p:cNvPr id="24" name="Text 4"/>
          <p:cNvSpPr/>
          <p:nvPr/>
        </p:nvSpPr>
        <p:spPr>
          <a:xfrm>
            <a:off x="5380553" y="3048000"/>
            <a:ext cx="1430893"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Direct Q&amp;A</a:t>
            </a:r>
            <a:endParaRPr lang="en-US" sz="1500" dirty="0"/>
          </a:p>
        </p:txBody>
      </p:sp>
      <p:sp>
        <p:nvSpPr>
          <p:cNvPr id="25" name="Text 5"/>
          <p:cNvSpPr/>
          <p:nvPr/>
        </p:nvSpPr>
        <p:spPr>
          <a:xfrm>
            <a:off x="4457700" y="3390900"/>
            <a:ext cx="3276600"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Learners can ask follow-up questions directly within the notebook cell for immediate clarification.</a:t>
            </a:r>
            <a:endParaRPr lang="en-US" sz="1200" dirty="0"/>
          </a:p>
        </p:txBody>
      </p:sp>
      <p:sp>
        <p:nvSpPr>
          <p:cNvPr id="26" name="Text 6"/>
          <p:cNvSpPr/>
          <p:nvPr/>
        </p:nvSpPr>
        <p:spPr>
          <a:xfrm>
            <a:off x="8751689" y="3048000"/>
            <a:ext cx="2461022"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Adaptive Pathways</a:t>
            </a:r>
            <a:endParaRPr lang="en-US" sz="1500" dirty="0"/>
          </a:p>
        </p:txBody>
      </p:sp>
      <p:sp>
        <p:nvSpPr>
          <p:cNvPr id="27" name="Text 7"/>
          <p:cNvSpPr/>
          <p:nvPr/>
        </p:nvSpPr>
        <p:spPr>
          <a:xfrm>
            <a:off x="8343900" y="3390900"/>
            <a:ext cx="3276600"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Adjusts explanations based on student performance, revisiting concepts with simpler visuals when needed.</a:t>
            </a:r>
            <a:endParaRPr lang="en-US" sz="1200" dirty="0"/>
          </a:p>
        </p:txBody>
      </p:sp>
      <p:sp>
        <p:nvSpPr>
          <p:cNvPr id="28" name="Text 8"/>
          <p:cNvSpPr/>
          <p:nvPr/>
        </p:nvSpPr>
        <p:spPr>
          <a:xfrm>
            <a:off x="571500" y="4762500"/>
            <a:ext cx="110490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Automated System Features:</a:t>
            </a:r>
            <a:endParaRPr lang="en-US" sz="1500" dirty="0"/>
          </a:p>
        </p:txBody>
      </p:sp>
      <p:sp>
        <p:nvSpPr>
          <p:cNvPr id="29" name="Text 9"/>
          <p:cNvSpPr/>
          <p:nvPr/>
        </p:nvSpPr>
        <p:spPr>
          <a:xfrm>
            <a:off x="923925" y="5162550"/>
            <a:ext cx="1279803"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Code Analysis</a:t>
            </a:r>
            <a:endParaRPr lang="en-US" sz="1200" dirty="0"/>
          </a:p>
        </p:txBody>
      </p:sp>
      <p:sp>
        <p:nvSpPr>
          <p:cNvPr id="30" name="Text 10"/>
          <p:cNvSpPr/>
          <p:nvPr/>
        </p:nvSpPr>
        <p:spPr>
          <a:xfrm>
            <a:off x="4638675" y="5162550"/>
            <a:ext cx="2201347"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Structured Explanations</a:t>
            </a:r>
            <a:endParaRPr lang="en-US" sz="1200" dirty="0"/>
          </a:p>
        </p:txBody>
      </p:sp>
      <p:sp>
        <p:nvSpPr>
          <p:cNvPr id="31" name="Text 11"/>
          <p:cNvSpPr/>
          <p:nvPr/>
        </p:nvSpPr>
        <p:spPr>
          <a:xfrm>
            <a:off x="8343900" y="5162550"/>
            <a:ext cx="2409765"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Visual Content Generation</a:t>
            </a:r>
            <a:endParaRPr lang="en-US" sz="1200" dirty="0"/>
          </a:p>
        </p:txBody>
      </p:sp>
      <p:sp>
        <p:nvSpPr>
          <p:cNvPr id="32" name="Text 12"/>
          <p:cNvSpPr/>
          <p:nvPr/>
        </p:nvSpPr>
        <p:spPr>
          <a:xfrm>
            <a:off x="876300" y="5581650"/>
            <a:ext cx="1954709"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Personalized Memory</a:t>
            </a:r>
            <a:endParaRPr lang="en-US" sz="1200" dirty="0"/>
          </a:p>
        </p:txBody>
      </p:sp>
      <p:sp>
        <p:nvSpPr>
          <p:cNvPr id="33" name="Text 13"/>
          <p:cNvSpPr/>
          <p:nvPr/>
        </p:nvSpPr>
        <p:spPr>
          <a:xfrm>
            <a:off x="4562475" y="5581650"/>
            <a:ext cx="1964531"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Adaptive Assessment</a:t>
            </a:r>
            <a:endParaRPr lang="en-US" sz="1200" dirty="0"/>
          </a:p>
        </p:txBody>
      </p:sp>
      <p:sp>
        <p:nvSpPr>
          <p:cNvPr id="34" name="Text 14"/>
          <p:cNvSpPr/>
          <p:nvPr/>
        </p:nvSpPr>
        <p:spPr>
          <a:xfrm>
            <a:off x="381000" y="6553200"/>
            <a:ext cx="139999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Agent CellTutor</a:t>
            </a:r>
            <a:endParaRPr lang="en-US" sz="1200" dirty="0"/>
          </a:p>
        </p:txBody>
      </p:sp>
      <p:sp>
        <p:nvSpPr>
          <p:cNvPr id="35" name="Text 15"/>
          <p:cNvSpPr/>
          <p:nvPr/>
        </p:nvSpPr>
        <p:spPr>
          <a:xfrm>
            <a:off x="11565731" y="6553200"/>
            <a:ext cx="294322"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3/8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4869507" y="1143000"/>
            <a:ext cx="2452985" cy="1638300"/>
          </a:xfrm>
          <a:prstGeom prst="rect">
            <a:avLst/>
          </a:prstGeom>
        </p:spPr>
      </p:pic>
      <p:pic>
        <p:nvPicPr>
          <p:cNvPr id="5" name="Image 3" descr="preencoded.png"/>
          <p:cNvPicPr>
            <a:picLocks noChangeAspect="1"/>
          </p:cNvPicPr>
          <p:nvPr/>
        </p:nvPicPr>
        <p:blipFill>
          <a:blip r:embed="rId6"/>
          <a:stretch>
            <a:fillRect/>
          </a:stretch>
        </p:blipFill>
        <p:spPr>
          <a:xfrm>
            <a:off x="5098107" y="1371600"/>
            <a:ext cx="1995785" cy="1181100"/>
          </a:xfrm>
          <a:prstGeom prst="rect">
            <a:avLst/>
          </a:prstGeom>
        </p:spPr>
      </p:pic>
      <p:pic>
        <p:nvPicPr>
          <p:cNvPr id="6" name="Image 4" descr="preencoded.png"/>
          <p:cNvPicPr>
            <a:picLocks noChangeAspect="1"/>
          </p:cNvPicPr>
          <p:nvPr/>
        </p:nvPicPr>
        <p:blipFill>
          <a:blip r:embed="rId7"/>
          <a:stretch>
            <a:fillRect/>
          </a:stretch>
        </p:blipFill>
        <p:spPr>
          <a:xfrm>
            <a:off x="5924550" y="1524000"/>
            <a:ext cx="342900" cy="381000"/>
          </a:xfrm>
          <a:prstGeom prst="rect">
            <a:avLst/>
          </a:prstGeom>
        </p:spPr>
      </p:pic>
      <p:pic>
        <p:nvPicPr>
          <p:cNvPr id="7" name="Image 5" descr="preencoded.png"/>
          <p:cNvPicPr>
            <a:picLocks noChangeAspect="1"/>
          </p:cNvPicPr>
          <p:nvPr/>
        </p:nvPicPr>
        <p:blipFill>
          <a:blip r:embed="rId8"/>
          <a:stretch>
            <a:fillRect/>
          </a:stretch>
        </p:blipFill>
        <p:spPr>
          <a:xfrm>
            <a:off x="304800" y="3009900"/>
            <a:ext cx="2781300" cy="1943100"/>
          </a:xfrm>
          <a:prstGeom prst="rect">
            <a:avLst/>
          </a:prstGeom>
        </p:spPr>
      </p:pic>
      <p:pic>
        <p:nvPicPr>
          <p:cNvPr id="8" name="Image 6" descr="preencoded.png"/>
          <p:cNvPicPr>
            <a:picLocks noChangeAspect="1"/>
          </p:cNvPicPr>
          <p:nvPr/>
        </p:nvPicPr>
        <p:blipFill>
          <a:blip r:embed="rId9"/>
          <a:stretch>
            <a:fillRect/>
          </a:stretch>
        </p:blipFill>
        <p:spPr>
          <a:xfrm>
            <a:off x="457200" y="3162300"/>
            <a:ext cx="490835" cy="571500"/>
          </a:xfrm>
          <a:prstGeom prst="rect">
            <a:avLst/>
          </a:prstGeom>
        </p:spPr>
      </p:pic>
      <p:pic>
        <p:nvPicPr>
          <p:cNvPr id="9" name="Image 7" descr="preencoded.png"/>
          <p:cNvPicPr>
            <a:picLocks noChangeAspect="1"/>
          </p:cNvPicPr>
          <p:nvPr/>
        </p:nvPicPr>
        <p:blipFill>
          <a:blip r:embed="rId10"/>
          <a:stretch>
            <a:fillRect/>
          </a:stretch>
        </p:blipFill>
        <p:spPr>
          <a:xfrm>
            <a:off x="588318" y="3295650"/>
            <a:ext cx="228600" cy="304800"/>
          </a:xfrm>
          <a:prstGeom prst="rect">
            <a:avLst/>
          </a:prstGeom>
        </p:spPr>
      </p:pic>
      <p:pic>
        <p:nvPicPr>
          <p:cNvPr id="10" name="Image 8" descr="preencoded.png"/>
          <p:cNvPicPr>
            <a:picLocks noChangeAspect="1"/>
          </p:cNvPicPr>
          <p:nvPr/>
        </p:nvPicPr>
        <p:blipFill>
          <a:blip r:embed="rId11"/>
          <a:stretch>
            <a:fillRect/>
          </a:stretch>
        </p:blipFill>
        <p:spPr>
          <a:xfrm>
            <a:off x="3238500" y="3009900"/>
            <a:ext cx="2781300" cy="1943100"/>
          </a:xfrm>
          <a:prstGeom prst="rect">
            <a:avLst/>
          </a:prstGeom>
        </p:spPr>
      </p:pic>
      <p:pic>
        <p:nvPicPr>
          <p:cNvPr id="11" name="Image 9" descr="preencoded.png"/>
          <p:cNvPicPr>
            <a:picLocks noChangeAspect="1"/>
          </p:cNvPicPr>
          <p:nvPr/>
        </p:nvPicPr>
        <p:blipFill>
          <a:blip r:embed="rId12"/>
          <a:stretch>
            <a:fillRect/>
          </a:stretch>
        </p:blipFill>
        <p:spPr>
          <a:xfrm>
            <a:off x="3390900" y="3162300"/>
            <a:ext cx="482947" cy="571500"/>
          </a:xfrm>
          <a:prstGeom prst="rect">
            <a:avLst/>
          </a:prstGeom>
        </p:spPr>
      </p:pic>
      <p:pic>
        <p:nvPicPr>
          <p:cNvPr id="12" name="Image 10" descr="preencoded.png"/>
          <p:cNvPicPr>
            <a:picLocks noChangeAspect="1"/>
          </p:cNvPicPr>
          <p:nvPr/>
        </p:nvPicPr>
        <p:blipFill>
          <a:blip r:embed="rId13"/>
          <a:stretch>
            <a:fillRect/>
          </a:stretch>
        </p:blipFill>
        <p:spPr>
          <a:xfrm>
            <a:off x="3503712" y="3295650"/>
            <a:ext cx="257175" cy="304800"/>
          </a:xfrm>
          <a:prstGeom prst="rect">
            <a:avLst/>
          </a:prstGeom>
        </p:spPr>
      </p:pic>
      <p:pic>
        <p:nvPicPr>
          <p:cNvPr id="13" name="Image 11" descr="preencoded.png"/>
          <p:cNvPicPr>
            <a:picLocks noChangeAspect="1"/>
          </p:cNvPicPr>
          <p:nvPr/>
        </p:nvPicPr>
        <p:blipFill>
          <a:blip r:embed="rId8"/>
          <a:stretch>
            <a:fillRect/>
          </a:stretch>
        </p:blipFill>
        <p:spPr>
          <a:xfrm>
            <a:off x="6172200" y="3009900"/>
            <a:ext cx="2781300" cy="1943100"/>
          </a:xfrm>
          <a:prstGeom prst="rect">
            <a:avLst/>
          </a:prstGeom>
        </p:spPr>
      </p:pic>
      <p:pic>
        <p:nvPicPr>
          <p:cNvPr id="14" name="Image 12" descr="preencoded.png"/>
          <p:cNvPicPr>
            <a:picLocks noChangeAspect="1"/>
          </p:cNvPicPr>
          <p:nvPr/>
        </p:nvPicPr>
        <p:blipFill>
          <a:blip r:embed="rId14"/>
          <a:stretch>
            <a:fillRect/>
          </a:stretch>
        </p:blipFill>
        <p:spPr>
          <a:xfrm>
            <a:off x="6324600" y="3162300"/>
            <a:ext cx="571500" cy="571500"/>
          </a:xfrm>
          <a:prstGeom prst="rect">
            <a:avLst/>
          </a:prstGeom>
        </p:spPr>
      </p:pic>
      <p:pic>
        <p:nvPicPr>
          <p:cNvPr id="15" name="Image 13" descr="preencoded.png"/>
          <p:cNvPicPr>
            <a:picLocks noChangeAspect="1"/>
          </p:cNvPicPr>
          <p:nvPr/>
        </p:nvPicPr>
        <p:blipFill>
          <a:blip r:embed="rId15"/>
          <a:stretch>
            <a:fillRect/>
          </a:stretch>
        </p:blipFill>
        <p:spPr>
          <a:xfrm>
            <a:off x="6524625" y="3295650"/>
            <a:ext cx="171450" cy="304800"/>
          </a:xfrm>
          <a:prstGeom prst="rect">
            <a:avLst/>
          </a:prstGeom>
        </p:spPr>
      </p:pic>
      <p:pic>
        <p:nvPicPr>
          <p:cNvPr id="16" name="Image 14" descr="preencoded.png"/>
          <p:cNvPicPr>
            <a:picLocks noChangeAspect="1"/>
          </p:cNvPicPr>
          <p:nvPr/>
        </p:nvPicPr>
        <p:blipFill>
          <a:blip r:embed="rId16"/>
          <a:stretch>
            <a:fillRect/>
          </a:stretch>
        </p:blipFill>
        <p:spPr>
          <a:xfrm>
            <a:off x="9105900" y="3009900"/>
            <a:ext cx="2781300" cy="1943100"/>
          </a:xfrm>
          <a:prstGeom prst="rect">
            <a:avLst/>
          </a:prstGeom>
        </p:spPr>
      </p:pic>
      <p:pic>
        <p:nvPicPr>
          <p:cNvPr id="17" name="Image 15" descr="preencoded.png"/>
          <p:cNvPicPr>
            <a:picLocks noChangeAspect="1"/>
          </p:cNvPicPr>
          <p:nvPr/>
        </p:nvPicPr>
        <p:blipFill>
          <a:blip r:embed="rId17"/>
          <a:stretch>
            <a:fillRect/>
          </a:stretch>
        </p:blipFill>
        <p:spPr>
          <a:xfrm>
            <a:off x="9415463" y="3295650"/>
            <a:ext cx="257175" cy="304800"/>
          </a:xfrm>
          <a:prstGeom prst="rect">
            <a:avLst/>
          </a:prstGeom>
        </p:spPr>
      </p:pic>
      <p:pic>
        <p:nvPicPr>
          <p:cNvPr id="18" name="Image 16" descr="preencoded.png"/>
          <p:cNvPicPr>
            <a:picLocks noChangeAspect="1"/>
          </p:cNvPicPr>
          <p:nvPr/>
        </p:nvPicPr>
        <p:blipFill>
          <a:blip r:embed="rId18"/>
          <a:stretch>
            <a:fillRect/>
          </a:stretch>
        </p:blipFill>
        <p:spPr>
          <a:xfrm>
            <a:off x="304800" y="5181600"/>
            <a:ext cx="11582400" cy="533400"/>
          </a:xfrm>
          <a:prstGeom prst="rect">
            <a:avLst/>
          </a:prstGeom>
        </p:spPr>
      </p:pic>
      <p:pic>
        <p:nvPicPr>
          <p:cNvPr id="19" name="Image 17" descr="preencoded.png"/>
          <p:cNvPicPr>
            <a:picLocks noChangeAspect="1"/>
          </p:cNvPicPr>
          <p:nvPr/>
        </p:nvPicPr>
        <p:blipFill>
          <a:blip r:embed="rId19"/>
          <a:stretch>
            <a:fillRect/>
          </a:stretch>
        </p:blipFill>
        <p:spPr>
          <a:xfrm>
            <a:off x="1100286" y="5362575"/>
            <a:ext cx="114300" cy="152400"/>
          </a:xfrm>
          <a:prstGeom prst="rect">
            <a:avLst/>
          </a:prstGeom>
        </p:spPr>
      </p:pic>
      <p:pic>
        <p:nvPicPr>
          <p:cNvPr id="20" name="Image 18" descr="preencoded.png"/>
          <p:cNvPicPr>
            <a:picLocks noChangeAspect="1"/>
          </p:cNvPicPr>
          <p:nvPr/>
        </p:nvPicPr>
        <p:blipFill>
          <a:blip r:embed="rId20"/>
          <a:stretch>
            <a:fillRect/>
          </a:stretch>
        </p:blipFill>
        <p:spPr>
          <a:xfrm>
            <a:off x="0" y="6477000"/>
            <a:ext cx="12192000" cy="381000"/>
          </a:xfrm>
          <a:prstGeom prst="rect">
            <a:avLst/>
          </a:prstGeom>
        </p:spPr>
      </p:pic>
      <p:sp>
        <p:nvSpPr>
          <p:cNvPr id="21" name="Text 0"/>
          <p:cNvSpPr/>
          <p:nvPr/>
        </p:nvSpPr>
        <p:spPr>
          <a:xfrm>
            <a:off x="457200" y="2286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Core Agent Roles</a:t>
            </a:r>
            <a:endParaRPr lang="en-US" sz="2700" dirty="0"/>
          </a:p>
        </p:txBody>
      </p:sp>
      <p:sp>
        <p:nvSpPr>
          <p:cNvPr id="22" name="Text 1"/>
          <p:cNvSpPr/>
          <p:nvPr/>
        </p:nvSpPr>
        <p:spPr>
          <a:xfrm>
            <a:off x="5081409" y="1981200"/>
            <a:ext cx="2029182"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008080"/>
                </a:solidFill>
                <a:latin typeface="ui-sans-serif" pitchFamily="34" charset="0"/>
                <a:ea typeface="ui-sans-serif" pitchFamily="34" charset="-122"/>
                <a:cs typeface="ui-sans-serif" pitchFamily="34" charset="-120"/>
              </a:rPr>
              <a:t>Cell Manager Agent</a:t>
            </a:r>
            <a:endParaRPr lang="en-US" sz="1200" dirty="0"/>
          </a:p>
        </p:txBody>
      </p:sp>
      <p:sp>
        <p:nvSpPr>
          <p:cNvPr id="23" name="Text 2"/>
          <p:cNvSpPr/>
          <p:nvPr/>
        </p:nvSpPr>
        <p:spPr>
          <a:xfrm>
            <a:off x="5527194" y="2209800"/>
            <a:ext cx="1137464"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(Orchestrator)</a:t>
            </a:r>
            <a:endParaRPr lang="en-US" sz="1050" dirty="0"/>
          </a:p>
        </p:txBody>
      </p:sp>
      <p:sp>
        <p:nvSpPr>
          <p:cNvPr id="24" name="Text 3"/>
          <p:cNvSpPr/>
          <p:nvPr/>
        </p:nvSpPr>
        <p:spPr>
          <a:xfrm>
            <a:off x="1062335" y="3181350"/>
            <a:ext cx="1871365"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Cell Explainer Agent</a:t>
            </a:r>
            <a:endParaRPr lang="en-US" sz="1500" dirty="0"/>
          </a:p>
        </p:txBody>
      </p:sp>
      <p:sp>
        <p:nvSpPr>
          <p:cNvPr id="25" name="Text 4"/>
          <p:cNvSpPr/>
          <p:nvPr/>
        </p:nvSpPr>
        <p:spPr>
          <a:xfrm>
            <a:off x="457200" y="3848100"/>
            <a:ext cx="2476500" cy="3810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Provides explanations at multiple levels</a:t>
            </a:r>
            <a:endParaRPr lang="en-US" sz="1050" dirty="0"/>
          </a:p>
        </p:txBody>
      </p:sp>
      <p:sp>
        <p:nvSpPr>
          <p:cNvPr id="26" name="Text 5"/>
          <p:cNvSpPr/>
          <p:nvPr/>
        </p:nvSpPr>
        <p:spPr>
          <a:xfrm>
            <a:off x="457200" y="42291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Summary generator</a:t>
            </a:r>
            <a:endParaRPr lang="en-US" sz="1050" dirty="0"/>
          </a:p>
        </p:txBody>
      </p:sp>
      <p:sp>
        <p:nvSpPr>
          <p:cNvPr id="27" name="Text 6"/>
          <p:cNvSpPr/>
          <p:nvPr/>
        </p:nvSpPr>
        <p:spPr>
          <a:xfrm>
            <a:off x="457200" y="44196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Line-by-line interpreter</a:t>
            </a:r>
            <a:endParaRPr lang="en-US" sz="1050" dirty="0"/>
          </a:p>
        </p:txBody>
      </p:sp>
      <p:sp>
        <p:nvSpPr>
          <p:cNvPr id="28" name="Text 7"/>
          <p:cNvSpPr/>
          <p:nvPr/>
        </p:nvSpPr>
        <p:spPr>
          <a:xfrm>
            <a:off x="457200" y="46101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Conceptual teacher</a:t>
            </a:r>
            <a:endParaRPr lang="en-US" sz="1050" dirty="0"/>
          </a:p>
        </p:txBody>
      </p:sp>
      <p:sp>
        <p:nvSpPr>
          <p:cNvPr id="29" name="Text 8"/>
          <p:cNvSpPr/>
          <p:nvPr/>
        </p:nvSpPr>
        <p:spPr>
          <a:xfrm>
            <a:off x="3988147" y="3181350"/>
            <a:ext cx="1879253"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Cell Visualizer Agent</a:t>
            </a:r>
            <a:endParaRPr lang="en-US" sz="1500" dirty="0"/>
          </a:p>
        </p:txBody>
      </p:sp>
      <p:sp>
        <p:nvSpPr>
          <p:cNvPr id="30" name="Text 9"/>
          <p:cNvSpPr/>
          <p:nvPr/>
        </p:nvSpPr>
        <p:spPr>
          <a:xfrm>
            <a:off x="3390900" y="38481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Diagram generator</a:t>
            </a:r>
            <a:endParaRPr lang="en-US" sz="1050" dirty="0"/>
          </a:p>
        </p:txBody>
      </p:sp>
      <p:sp>
        <p:nvSpPr>
          <p:cNvPr id="31" name="Text 10"/>
          <p:cNvSpPr/>
          <p:nvPr/>
        </p:nvSpPr>
        <p:spPr>
          <a:xfrm>
            <a:off x="3390900" y="40386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Animation creator</a:t>
            </a:r>
            <a:endParaRPr lang="en-US" sz="1050" dirty="0"/>
          </a:p>
        </p:txBody>
      </p:sp>
      <p:sp>
        <p:nvSpPr>
          <p:cNvPr id="32" name="Text 11"/>
          <p:cNvSpPr/>
          <p:nvPr/>
        </p:nvSpPr>
        <p:spPr>
          <a:xfrm>
            <a:off x="3390900" y="42291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Visual representation of code flow</a:t>
            </a:r>
            <a:endParaRPr lang="en-US" sz="1050" dirty="0"/>
          </a:p>
        </p:txBody>
      </p:sp>
      <p:sp>
        <p:nvSpPr>
          <p:cNvPr id="33" name="Text 12"/>
          <p:cNvSpPr/>
          <p:nvPr/>
        </p:nvSpPr>
        <p:spPr>
          <a:xfrm>
            <a:off x="3390900" y="44196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Illustrates variable changes</a:t>
            </a:r>
            <a:endParaRPr lang="en-US" sz="1050" dirty="0"/>
          </a:p>
        </p:txBody>
      </p:sp>
      <p:sp>
        <p:nvSpPr>
          <p:cNvPr id="34" name="Text 13"/>
          <p:cNvSpPr/>
          <p:nvPr/>
        </p:nvSpPr>
        <p:spPr>
          <a:xfrm>
            <a:off x="7010400" y="3314700"/>
            <a:ext cx="197489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Cell Quiz Agent</a:t>
            </a:r>
            <a:endParaRPr lang="en-US" sz="1500" dirty="0"/>
          </a:p>
        </p:txBody>
      </p:sp>
      <p:sp>
        <p:nvSpPr>
          <p:cNvPr id="35" name="Text 14"/>
          <p:cNvSpPr/>
          <p:nvPr/>
        </p:nvSpPr>
        <p:spPr>
          <a:xfrm>
            <a:off x="6324600" y="38481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Creates targeted questions</a:t>
            </a:r>
            <a:endParaRPr lang="en-US" sz="1050" dirty="0"/>
          </a:p>
        </p:txBody>
      </p:sp>
      <p:sp>
        <p:nvSpPr>
          <p:cNvPr id="36" name="Text 15"/>
          <p:cNvSpPr/>
          <p:nvPr/>
        </p:nvSpPr>
        <p:spPr>
          <a:xfrm>
            <a:off x="6324600" y="40386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Validates user answers</a:t>
            </a:r>
            <a:endParaRPr lang="en-US" sz="1050" dirty="0"/>
          </a:p>
        </p:txBody>
      </p:sp>
      <p:sp>
        <p:nvSpPr>
          <p:cNvPr id="37" name="Text 16"/>
          <p:cNvSpPr/>
          <p:nvPr/>
        </p:nvSpPr>
        <p:spPr>
          <a:xfrm>
            <a:off x="6324600" y="42291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Repeats until learning target</a:t>
            </a:r>
            <a:endParaRPr lang="en-US" sz="1050" dirty="0"/>
          </a:p>
        </p:txBody>
      </p:sp>
      <p:sp>
        <p:nvSpPr>
          <p:cNvPr id="38" name="Text 17"/>
          <p:cNvSpPr/>
          <p:nvPr/>
        </p:nvSpPr>
        <p:spPr>
          <a:xfrm>
            <a:off x="6324600" y="4419600"/>
            <a:ext cx="2476500" cy="3810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Ensures mastery before progression</a:t>
            </a:r>
            <a:endParaRPr lang="en-US" sz="1050" dirty="0"/>
          </a:p>
        </p:txBody>
      </p:sp>
      <p:sp>
        <p:nvSpPr>
          <p:cNvPr id="39" name="Text 18"/>
          <p:cNvSpPr/>
          <p:nvPr/>
        </p:nvSpPr>
        <p:spPr>
          <a:xfrm>
            <a:off x="9829800" y="3314700"/>
            <a:ext cx="1886843"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Memory Agent</a:t>
            </a:r>
            <a:endParaRPr lang="en-US" sz="1500" dirty="0"/>
          </a:p>
        </p:txBody>
      </p:sp>
      <p:sp>
        <p:nvSpPr>
          <p:cNvPr id="40" name="Text 19"/>
          <p:cNvSpPr/>
          <p:nvPr/>
        </p:nvSpPr>
        <p:spPr>
          <a:xfrm>
            <a:off x="9258300" y="38481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Stores user mistakes</a:t>
            </a:r>
            <a:endParaRPr lang="en-US" sz="1050" dirty="0"/>
          </a:p>
        </p:txBody>
      </p:sp>
      <p:sp>
        <p:nvSpPr>
          <p:cNvPr id="41" name="Text 20"/>
          <p:cNvSpPr/>
          <p:nvPr/>
        </p:nvSpPr>
        <p:spPr>
          <a:xfrm>
            <a:off x="9258300" y="40386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Tracks misunderstood concepts</a:t>
            </a:r>
            <a:endParaRPr lang="en-US" sz="1050" dirty="0"/>
          </a:p>
        </p:txBody>
      </p:sp>
      <p:sp>
        <p:nvSpPr>
          <p:cNvPr id="42" name="Text 21"/>
          <p:cNvSpPr/>
          <p:nvPr/>
        </p:nvSpPr>
        <p:spPr>
          <a:xfrm>
            <a:off x="9258300" y="42291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Remembers preferred styles</a:t>
            </a:r>
            <a:endParaRPr lang="en-US" sz="1050" dirty="0"/>
          </a:p>
        </p:txBody>
      </p:sp>
      <p:sp>
        <p:nvSpPr>
          <p:cNvPr id="43" name="Text 22"/>
          <p:cNvSpPr/>
          <p:nvPr/>
        </p:nvSpPr>
        <p:spPr>
          <a:xfrm>
            <a:off x="9258300" y="4419600"/>
            <a:ext cx="297180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Personalizes future explanations</a:t>
            </a:r>
            <a:endParaRPr lang="en-US" sz="1050" dirty="0"/>
          </a:p>
        </p:txBody>
      </p:sp>
      <p:sp>
        <p:nvSpPr>
          <p:cNvPr id="44" name="Text 23"/>
          <p:cNvSpPr/>
          <p:nvPr/>
        </p:nvSpPr>
        <p:spPr>
          <a:xfrm>
            <a:off x="-670560" y="5334000"/>
            <a:ext cx="13533120"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 </a:t>
            </a:r>
            <a:r>
              <a:rPr lang="en-US" sz="1200" b="1" dirty="0">
                <a:solidFill>
                  <a:srgbClr val="374151"/>
                </a:solidFill>
                <a:latin typeface="ui-sans-serif" pitchFamily="34" charset="0"/>
                <a:ea typeface="ui-sans-serif" pitchFamily="34" charset="-122"/>
                <a:cs typeface="ui-sans-serif" pitchFamily="34" charset="-120"/>
              </a:rPr>
              <a:t>Key:</a:t>
            </a:r>
            <a:r>
              <a:rPr lang="en-US" sz="1200" dirty="0">
                <a:solidFill>
                  <a:srgbClr val="374151"/>
                </a:solidFill>
                <a:latin typeface="ui-sans-serif" pitchFamily="34" charset="0"/>
                <a:ea typeface="ui-sans-serif" pitchFamily="34" charset="-122"/>
                <a:cs typeface="ui-sans-serif" pitchFamily="34" charset="-120"/>
              </a:rPr>
              <a:t> Each code cell becomes its own intelligent micro-tutor, coordinating these specialized agents for comprehensive learning.</a:t>
            </a:r>
            <a:endParaRPr lang="en-US" sz="1200" dirty="0"/>
          </a:p>
        </p:txBody>
      </p:sp>
      <p:sp>
        <p:nvSpPr>
          <p:cNvPr id="45" name="Text 24"/>
          <p:cNvSpPr/>
          <p:nvPr/>
        </p:nvSpPr>
        <p:spPr>
          <a:xfrm>
            <a:off x="381000" y="6553200"/>
            <a:ext cx="139999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Agent CellTutor</a:t>
            </a:r>
            <a:endParaRPr lang="en-US" sz="1200" dirty="0"/>
          </a:p>
        </p:txBody>
      </p:sp>
      <p:sp>
        <p:nvSpPr>
          <p:cNvPr id="46" name="Text 25"/>
          <p:cNvSpPr/>
          <p:nvPr/>
        </p:nvSpPr>
        <p:spPr>
          <a:xfrm>
            <a:off x="11565731" y="6553200"/>
            <a:ext cx="294322"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5/8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5486400" y="3048000"/>
            <a:ext cx="1219200" cy="1219200"/>
          </a:xfrm>
          <a:prstGeom prst="rect">
            <a:avLst/>
          </a:prstGeom>
        </p:spPr>
      </p:pic>
      <p:pic>
        <p:nvPicPr>
          <p:cNvPr id="5" name="Image 3" descr="preencoded.png"/>
          <p:cNvPicPr>
            <a:picLocks noChangeAspect="1"/>
          </p:cNvPicPr>
          <p:nvPr/>
        </p:nvPicPr>
        <p:blipFill>
          <a:blip r:embed="rId6"/>
          <a:stretch>
            <a:fillRect/>
          </a:stretch>
        </p:blipFill>
        <p:spPr>
          <a:xfrm>
            <a:off x="5638800" y="3200400"/>
            <a:ext cx="914400" cy="914400"/>
          </a:xfrm>
          <a:prstGeom prst="rect">
            <a:avLst/>
          </a:prstGeom>
        </p:spPr>
      </p:pic>
      <p:pic>
        <p:nvPicPr>
          <p:cNvPr id="6" name="Image 4" descr="preencoded.png"/>
          <p:cNvPicPr>
            <a:picLocks noChangeAspect="1"/>
          </p:cNvPicPr>
          <p:nvPr/>
        </p:nvPicPr>
        <p:blipFill>
          <a:blip r:embed="rId7"/>
          <a:stretch>
            <a:fillRect/>
          </a:stretch>
        </p:blipFill>
        <p:spPr>
          <a:xfrm>
            <a:off x="5881688" y="3467100"/>
            <a:ext cx="428625" cy="381000"/>
          </a:xfrm>
          <a:prstGeom prst="rect">
            <a:avLst/>
          </a:prstGeom>
        </p:spPr>
      </p:pic>
      <p:pic>
        <p:nvPicPr>
          <p:cNvPr id="7" name="Image 5" descr="preencoded.png"/>
          <p:cNvPicPr>
            <a:picLocks noChangeAspect="1"/>
          </p:cNvPicPr>
          <p:nvPr/>
        </p:nvPicPr>
        <p:blipFill>
          <a:blip r:embed="rId8"/>
          <a:stretch>
            <a:fillRect/>
          </a:stretch>
        </p:blipFill>
        <p:spPr>
          <a:xfrm>
            <a:off x="381000" y="1219200"/>
            <a:ext cx="2163961" cy="2476500"/>
          </a:xfrm>
          <a:prstGeom prst="rect">
            <a:avLst/>
          </a:prstGeom>
        </p:spPr>
      </p:pic>
      <p:pic>
        <p:nvPicPr>
          <p:cNvPr id="8" name="Image 6" descr="preencoded.png"/>
          <p:cNvPicPr>
            <a:picLocks noChangeAspect="1"/>
          </p:cNvPicPr>
          <p:nvPr/>
        </p:nvPicPr>
        <p:blipFill>
          <a:blip r:embed="rId9"/>
          <a:stretch>
            <a:fillRect/>
          </a:stretch>
        </p:blipFill>
        <p:spPr>
          <a:xfrm>
            <a:off x="1167705" y="1409700"/>
            <a:ext cx="590550" cy="609600"/>
          </a:xfrm>
          <a:prstGeom prst="rect">
            <a:avLst/>
          </a:prstGeom>
        </p:spPr>
      </p:pic>
      <p:pic>
        <p:nvPicPr>
          <p:cNvPr id="9" name="Image 7" descr="preencoded.png"/>
          <p:cNvPicPr>
            <a:picLocks noChangeAspect="1"/>
          </p:cNvPicPr>
          <p:nvPr/>
        </p:nvPicPr>
        <p:blipFill>
          <a:blip r:embed="rId10"/>
          <a:stretch>
            <a:fillRect/>
          </a:stretch>
        </p:blipFill>
        <p:spPr>
          <a:xfrm>
            <a:off x="1320105" y="1562100"/>
            <a:ext cx="285750" cy="304800"/>
          </a:xfrm>
          <a:prstGeom prst="rect">
            <a:avLst/>
          </a:prstGeom>
        </p:spPr>
      </p:pic>
      <p:pic>
        <p:nvPicPr>
          <p:cNvPr id="10" name="Image 8" descr="preencoded.png"/>
          <p:cNvPicPr>
            <a:picLocks noChangeAspect="1"/>
          </p:cNvPicPr>
          <p:nvPr/>
        </p:nvPicPr>
        <p:blipFill>
          <a:blip r:embed="rId11"/>
          <a:stretch>
            <a:fillRect/>
          </a:stretch>
        </p:blipFill>
        <p:spPr>
          <a:xfrm>
            <a:off x="2697361" y="1219200"/>
            <a:ext cx="2164110" cy="2476500"/>
          </a:xfrm>
          <a:prstGeom prst="rect">
            <a:avLst/>
          </a:prstGeom>
        </p:spPr>
      </p:pic>
      <p:pic>
        <p:nvPicPr>
          <p:cNvPr id="11" name="Image 9" descr="preencoded.png"/>
          <p:cNvPicPr>
            <a:picLocks noChangeAspect="1"/>
          </p:cNvPicPr>
          <p:nvPr/>
        </p:nvPicPr>
        <p:blipFill>
          <a:blip r:embed="rId12"/>
          <a:stretch>
            <a:fillRect/>
          </a:stretch>
        </p:blipFill>
        <p:spPr>
          <a:xfrm>
            <a:off x="3498354" y="1409700"/>
            <a:ext cx="561975" cy="609600"/>
          </a:xfrm>
          <a:prstGeom prst="rect">
            <a:avLst/>
          </a:prstGeom>
        </p:spPr>
      </p:pic>
      <p:pic>
        <p:nvPicPr>
          <p:cNvPr id="12" name="Image 10" descr="preencoded.png"/>
          <p:cNvPicPr>
            <a:picLocks noChangeAspect="1"/>
          </p:cNvPicPr>
          <p:nvPr/>
        </p:nvPicPr>
        <p:blipFill>
          <a:blip r:embed="rId13"/>
          <a:stretch>
            <a:fillRect/>
          </a:stretch>
        </p:blipFill>
        <p:spPr>
          <a:xfrm>
            <a:off x="3650754" y="1562100"/>
            <a:ext cx="257175" cy="304800"/>
          </a:xfrm>
          <a:prstGeom prst="rect">
            <a:avLst/>
          </a:prstGeom>
        </p:spPr>
      </p:pic>
      <p:pic>
        <p:nvPicPr>
          <p:cNvPr id="13" name="Image 11" descr="preencoded.png"/>
          <p:cNvPicPr>
            <a:picLocks noChangeAspect="1"/>
          </p:cNvPicPr>
          <p:nvPr/>
        </p:nvPicPr>
        <p:blipFill>
          <a:blip r:embed="rId14"/>
          <a:stretch>
            <a:fillRect/>
          </a:stretch>
        </p:blipFill>
        <p:spPr>
          <a:xfrm>
            <a:off x="5013871" y="1219200"/>
            <a:ext cx="2164110" cy="2476500"/>
          </a:xfrm>
          <a:prstGeom prst="rect">
            <a:avLst/>
          </a:prstGeom>
        </p:spPr>
      </p:pic>
      <p:pic>
        <p:nvPicPr>
          <p:cNvPr id="14" name="Image 12" descr="preencoded.png"/>
          <p:cNvPicPr>
            <a:picLocks noChangeAspect="1"/>
          </p:cNvPicPr>
          <p:nvPr/>
        </p:nvPicPr>
        <p:blipFill>
          <a:blip r:embed="rId15"/>
          <a:stretch>
            <a:fillRect/>
          </a:stretch>
        </p:blipFill>
        <p:spPr>
          <a:xfrm>
            <a:off x="5829151" y="1409700"/>
            <a:ext cx="533400" cy="609600"/>
          </a:xfrm>
          <a:prstGeom prst="rect">
            <a:avLst/>
          </a:prstGeom>
        </p:spPr>
      </p:pic>
      <p:pic>
        <p:nvPicPr>
          <p:cNvPr id="15" name="Image 13" descr="preencoded.png"/>
          <p:cNvPicPr>
            <a:picLocks noChangeAspect="1"/>
          </p:cNvPicPr>
          <p:nvPr/>
        </p:nvPicPr>
        <p:blipFill>
          <a:blip r:embed="rId16"/>
          <a:stretch>
            <a:fillRect/>
          </a:stretch>
        </p:blipFill>
        <p:spPr>
          <a:xfrm>
            <a:off x="5981551" y="1562100"/>
            <a:ext cx="228600" cy="304800"/>
          </a:xfrm>
          <a:prstGeom prst="rect">
            <a:avLst/>
          </a:prstGeom>
        </p:spPr>
      </p:pic>
      <p:pic>
        <p:nvPicPr>
          <p:cNvPr id="16" name="Image 14" descr="preencoded.png"/>
          <p:cNvPicPr>
            <a:picLocks noChangeAspect="1"/>
          </p:cNvPicPr>
          <p:nvPr/>
        </p:nvPicPr>
        <p:blipFill>
          <a:blip r:embed="rId17"/>
          <a:stretch>
            <a:fillRect/>
          </a:stretch>
        </p:blipFill>
        <p:spPr>
          <a:xfrm>
            <a:off x="7330380" y="1219200"/>
            <a:ext cx="2164110" cy="2476500"/>
          </a:xfrm>
          <a:prstGeom prst="rect">
            <a:avLst/>
          </a:prstGeom>
        </p:spPr>
      </p:pic>
      <p:pic>
        <p:nvPicPr>
          <p:cNvPr id="17" name="Image 15" descr="preencoded.png"/>
          <p:cNvPicPr>
            <a:picLocks noChangeAspect="1"/>
          </p:cNvPicPr>
          <p:nvPr/>
        </p:nvPicPr>
        <p:blipFill>
          <a:blip r:embed="rId18"/>
          <a:stretch>
            <a:fillRect/>
          </a:stretch>
        </p:blipFill>
        <p:spPr>
          <a:xfrm>
            <a:off x="8159948" y="1409700"/>
            <a:ext cx="504825" cy="609600"/>
          </a:xfrm>
          <a:prstGeom prst="rect">
            <a:avLst/>
          </a:prstGeom>
        </p:spPr>
      </p:pic>
      <p:pic>
        <p:nvPicPr>
          <p:cNvPr id="18" name="Image 16" descr="preencoded.png"/>
          <p:cNvPicPr>
            <a:picLocks noChangeAspect="1"/>
          </p:cNvPicPr>
          <p:nvPr/>
        </p:nvPicPr>
        <p:blipFill>
          <a:blip r:embed="rId19"/>
          <a:stretch>
            <a:fillRect/>
          </a:stretch>
        </p:blipFill>
        <p:spPr>
          <a:xfrm>
            <a:off x="8312348" y="1562100"/>
            <a:ext cx="200025" cy="304800"/>
          </a:xfrm>
          <a:prstGeom prst="rect">
            <a:avLst/>
          </a:prstGeom>
        </p:spPr>
      </p:pic>
      <p:pic>
        <p:nvPicPr>
          <p:cNvPr id="19" name="Image 17" descr="preencoded.png"/>
          <p:cNvPicPr>
            <a:picLocks noChangeAspect="1"/>
          </p:cNvPicPr>
          <p:nvPr/>
        </p:nvPicPr>
        <p:blipFill>
          <a:blip r:embed="rId20"/>
          <a:stretch>
            <a:fillRect/>
          </a:stretch>
        </p:blipFill>
        <p:spPr>
          <a:xfrm>
            <a:off x="9646890" y="1219200"/>
            <a:ext cx="2163961" cy="2476500"/>
          </a:xfrm>
          <a:prstGeom prst="rect">
            <a:avLst/>
          </a:prstGeom>
        </p:spPr>
      </p:pic>
      <p:pic>
        <p:nvPicPr>
          <p:cNvPr id="20" name="Image 18" descr="preencoded.png"/>
          <p:cNvPicPr>
            <a:picLocks noChangeAspect="1"/>
          </p:cNvPicPr>
          <p:nvPr/>
        </p:nvPicPr>
        <p:blipFill>
          <a:blip r:embed="rId21"/>
          <a:stretch>
            <a:fillRect/>
          </a:stretch>
        </p:blipFill>
        <p:spPr>
          <a:xfrm>
            <a:off x="10462171" y="1409700"/>
            <a:ext cx="533400" cy="609600"/>
          </a:xfrm>
          <a:prstGeom prst="rect">
            <a:avLst/>
          </a:prstGeom>
        </p:spPr>
      </p:pic>
      <p:pic>
        <p:nvPicPr>
          <p:cNvPr id="21" name="Image 19" descr="preencoded.png"/>
          <p:cNvPicPr>
            <a:picLocks noChangeAspect="1"/>
          </p:cNvPicPr>
          <p:nvPr/>
        </p:nvPicPr>
        <p:blipFill>
          <a:blip r:embed="rId22"/>
          <a:stretch>
            <a:fillRect/>
          </a:stretch>
        </p:blipFill>
        <p:spPr>
          <a:xfrm>
            <a:off x="10614571" y="1562100"/>
            <a:ext cx="228600" cy="304800"/>
          </a:xfrm>
          <a:prstGeom prst="rect">
            <a:avLst/>
          </a:prstGeom>
        </p:spPr>
      </p:pic>
      <p:pic>
        <p:nvPicPr>
          <p:cNvPr id="22" name="Image 20" descr="preencoded.png"/>
          <p:cNvPicPr>
            <a:picLocks noChangeAspect="1"/>
          </p:cNvPicPr>
          <p:nvPr/>
        </p:nvPicPr>
        <p:blipFill>
          <a:blip r:embed="rId23"/>
          <a:stretch>
            <a:fillRect/>
          </a:stretch>
        </p:blipFill>
        <p:spPr>
          <a:xfrm>
            <a:off x="381000" y="4000500"/>
            <a:ext cx="11430000" cy="838200"/>
          </a:xfrm>
          <a:prstGeom prst="rect">
            <a:avLst/>
          </a:prstGeom>
        </p:spPr>
      </p:pic>
      <p:pic>
        <p:nvPicPr>
          <p:cNvPr id="23" name="Image 21" descr="preencoded.png"/>
          <p:cNvPicPr>
            <a:picLocks noChangeAspect="1"/>
          </p:cNvPicPr>
          <p:nvPr/>
        </p:nvPicPr>
        <p:blipFill>
          <a:blip r:embed="rId24"/>
          <a:stretch>
            <a:fillRect/>
          </a:stretch>
        </p:blipFill>
        <p:spPr>
          <a:xfrm>
            <a:off x="0" y="6477000"/>
            <a:ext cx="12192000" cy="381000"/>
          </a:xfrm>
          <a:prstGeom prst="rect">
            <a:avLst/>
          </a:prstGeom>
        </p:spPr>
      </p:pic>
      <p:sp>
        <p:nvSpPr>
          <p:cNvPr id="24" name="Text 0"/>
          <p:cNvSpPr/>
          <p:nvPr/>
        </p:nvSpPr>
        <p:spPr>
          <a:xfrm>
            <a:off x="457200" y="2286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Essential Tools &amp; Utilities</a:t>
            </a:r>
            <a:endParaRPr lang="en-US" sz="2700" dirty="0"/>
          </a:p>
        </p:txBody>
      </p:sp>
      <p:sp>
        <p:nvSpPr>
          <p:cNvPr id="25" name="Text 1"/>
          <p:cNvSpPr/>
          <p:nvPr/>
        </p:nvSpPr>
        <p:spPr>
          <a:xfrm>
            <a:off x="492859" y="2133600"/>
            <a:ext cx="1940242"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Code Inspector</a:t>
            </a:r>
            <a:endParaRPr lang="en-US" sz="1500" dirty="0"/>
          </a:p>
        </p:txBody>
      </p:sp>
      <p:sp>
        <p:nvSpPr>
          <p:cNvPr id="26" name="Text 2"/>
          <p:cNvSpPr/>
          <p:nvPr/>
        </p:nvSpPr>
        <p:spPr>
          <a:xfrm>
            <a:off x="571500" y="2476500"/>
            <a:ext cx="1782961" cy="762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AST Analyzer that extracts imports, loops, conditionals, and function definitions</a:t>
            </a:r>
            <a:endParaRPr lang="en-US" sz="1050" dirty="0"/>
          </a:p>
        </p:txBody>
      </p:sp>
      <p:sp>
        <p:nvSpPr>
          <p:cNvPr id="27" name="Text 3"/>
          <p:cNvSpPr/>
          <p:nvPr/>
        </p:nvSpPr>
        <p:spPr>
          <a:xfrm>
            <a:off x="2887861" y="2133600"/>
            <a:ext cx="1783110" cy="5334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Diagram Generator</a:t>
            </a:r>
            <a:endParaRPr lang="en-US" sz="1500" dirty="0"/>
          </a:p>
        </p:txBody>
      </p:sp>
      <p:sp>
        <p:nvSpPr>
          <p:cNvPr id="28" name="Text 4"/>
          <p:cNvSpPr/>
          <p:nvPr/>
        </p:nvSpPr>
        <p:spPr>
          <a:xfrm>
            <a:off x="2887861" y="2743200"/>
            <a:ext cx="1783110" cy="571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Creates control flow diagrams, call graphs, and data movement diagrams</a:t>
            </a:r>
            <a:endParaRPr lang="en-US" sz="1050" dirty="0"/>
          </a:p>
        </p:txBody>
      </p:sp>
      <p:sp>
        <p:nvSpPr>
          <p:cNvPr id="29" name="Text 5"/>
          <p:cNvSpPr/>
          <p:nvPr/>
        </p:nvSpPr>
        <p:spPr>
          <a:xfrm>
            <a:off x="5204371" y="2133600"/>
            <a:ext cx="1783110" cy="5334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Animation Generator</a:t>
            </a:r>
            <a:endParaRPr lang="en-US" sz="1500" dirty="0"/>
          </a:p>
        </p:txBody>
      </p:sp>
      <p:sp>
        <p:nvSpPr>
          <p:cNvPr id="30" name="Text 6"/>
          <p:cNvSpPr/>
          <p:nvPr/>
        </p:nvSpPr>
        <p:spPr>
          <a:xfrm>
            <a:off x="5204371" y="2743200"/>
            <a:ext cx="1783110" cy="762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Produces animated GIFs showing loop iterations, variable changes, and execution order</a:t>
            </a:r>
            <a:endParaRPr lang="en-US" sz="1050" dirty="0"/>
          </a:p>
        </p:txBody>
      </p:sp>
      <p:sp>
        <p:nvSpPr>
          <p:cNvPr id="31" name="Text 7"/>
          <p:cNvSpPr/>
          <p:nvPr/>
        </p:nvSpPr>
        <p:spPr>
          <a:xfrm>
            <a:off x="7520880" y="2133600"/>
            <a:ext cx="1783110" cy="5334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Session Memory Manager</a:t>
            </a:r>
            <a:endParaRPr lang="en-US" sz="1500" dirty="0"/>
          </a:p>
        </p:txBody>
      </p:sp>
      <p:sp>
        <p:nvSpPr>
          <p:cNvPr id="32" name="Text 8"/>
          <p:cNvSpPr/>
          <p:nvPr/>
        </p:nvSpPr>
        <p:spPr>
          <a:xfrm>
            <a:off x="7520880" y="2743200"/>
            <a:ext cx="1783110" cy="762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Stores Q&amp;A, quiz attempts, and per-cell feedback to personalize explanations</a:t>
            </a:r>
            <a:endParaRPr lang="en-US" sz="1050" dirty="0"/>
          </a:p>
        </p:txBody>
      </p:sp>
      <p:sp>
        <p:nvSpPr>
          <p:cNvPr id="33" name="Text 9"/>
          <p:cNvSpPr/>
          <p:nvPr/>
        </p:nvSpPr>
        <p:spPr>
          <a:xfrm>
            <a:off x="9711601" y="2133600"/>
            <a:ext cx="203454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Validation Tools</a:t>
            </a:r>
            <a:endParaRPr lang="en-US" sz="1500" dirty="0"/>
          </a:p>
        </p:txBody>
      </p:sp>
      <p:sp>
        <p:nvSpPr>
          <p:cNvPr id="34" name="Text 10"/>
          <p:cNvSpPr/>
          <p:nvPr/>
        </p:nvSpPr>
        <p:spPr>
          <a:xfrm>
            <a:off x="9837390" y="2476500"/>
            <a:ext cx="1782961" cy="762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Ensures output quality with explanation, visualization, and quiz answer validation</a:t>
            </a:r>
            <a:endParaRPr lang="en-US" sz="1050" dirty="0"/>
          </a:p>
        </p:txBody>
      </p:sp>
      <p:sp>
        <p:nvSpPr>
          <p:cNvPr id="35" name="Text 11"/>
          <p:cNvSpPr/>
          <p:nvPr/>
        </p:nvSpPr>
        <p:spPr>
          <a:xfrm>
            <a:off x="571500" y="4191000"/>
            <a:ext cx="1104900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These tools work together to enable Agent CellTutor's automated multimodal teaching capabilities, transforming static code into interactive learning experiences.</a:t>
            </a:r>
            <a:endParaRPr lang="en-US" sz="1200" dirty="0"/>
          </a:p>
        </p:txBody>
      </p:sp>
      <p:sp>
        <p:nvSpPr>
          <p:cNvPr id="36" name="Text 12"/>
          <p:cNvSpPr/>
          <p:nvPr/>
        </p:nvSpPr>
        <p:spPr>
          <a:xfrm>
            <a:off x="381000" y="6553200"/>
            <a:ext cx="139999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Agent CellTutor</a:t>
            </a:r>
            <a:endParaRPr lang="en-US" sz="1200" dirty="0"/>
          </a:p>
        </p:txBody>
      </p:sp>
      <p:sp>
        <p:nvSpPr>
          <p:cNvPr id="37" name="Text 13"/>
          <p:cNvSpPr/>
          <p:nvPr/>
        </p:nvSpPr>
        <p:spPr>
          <a:xfrm>
            <a:off x="11565731" y="6553200"/>
            <a:ext cx="294322"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6/8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961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3733800" cy="1905000"/>
          </a:xfrm>
          <a:prstGeom prst="rect">
            <a:avLst/>
          </a:prstGeom>
        </p:spPr>
      </p:pic>
      <p:pic>
        <p:nvPicPr>
          <p:cNvPr id="5" name="Image 3" descr="preencoded.png"/>
          <p:cNvPicPr>
            <a:picLocks noChangeAspect="1"/>
          </p:cNvPicPr>
          <p:nvPr/>
        </p:nvPicPr>
        <p:blipFill>
          <a:blip r:embed="rId6"/>
          <a:stretch>
            <a:fillRect/>
          </a:stretch>
        </p:blipFill>
        <p:spPr>
          <a:xfrm>
            <a:off x="1938337" y="1295400"/>
            <a:ext cx="466725" cy="495300"/>
          </a:xfrm>
          <a:prstGeom prst="rect">
            <a:avLst/>
          </a:prstGeom>
        </p:spPr>
      </p:pic>
      <p:pic>
        <p:nvPicPr>
          <p:cNvPr id="6" name="Image 4" descr="preencoded.png"/>
          <p:cNvPicPr>
            <a:picLocks noChangeAspect="1"/>
          </p:cNvPicPr>
          <p:nvPr/>
        </p:nvPicPr>
        <p:blipFill>
          <a:blip r:embed="rId7"/>
          <a:stretch>
            <a:fillRect/>
          </a:stretch>
        </p:blipFill>
        <p:spPr>
          <a:xfrm>
            <a:off x="2052637" y="1409700"/>
            <a:ext cx="238125" cy="266700"/>
          </a:xfrm>
          <a:prstGeom prst="rect">
            <a:avLst/>
          </a:prstGeom>
        </p:spPr>
      </p:pic>
      <p:pic>
        <p:nvPicPr>
          <p:cNvPr id="7" name="Image 5" descr="preencoded.png"/>
          <p:cNvPicPr>
            <a:picLocks noChangeAspect="1"/>
          </p:cNvPicPr>
          <p:nvPr/>
        </p:nvPicPr>
        <p:blipFill>
          <a:blip r:embed="rId5"/>
          <a:stretch>
            <a:fillRect/>
          </a:stretch>
        </p:blipFill>
        <p:spPr>
          <a:xfrm>
            <a:off x="4229100" y="1143000"/>
            <a:ext cx="3733800" cy="1905000"/>
          </a:xfrm>
          <a:prstGeom prst="rect">
            <a:avLst/>
          </a:prstGeom>
        </p:spPr>
      </p:pic>
      <p:pic>
        <p:nvPicPr>
          <p:cNvPr id="8" name="Image 6" descr="preencoded.png"/>
          <p:cNvPicPr>
            <a:picLocks noChangeAspect="1"/>
          </p:cNvPicPr>
          <p:nvPr/>
        </p:nvPicPr>
        <p:blipFill>
          <a:blip r:embed="rId8"/>
          <a:stretch>
            <a:fillRect/>
          </a:stretch>
        </p:blipFill>
        <p:spPr>
          <a:xfrm>
            <a:off x="5872163" y="1295400"/>
            <a:ext cx="447675" cy="495300"/>
          </a:xfrm>
          <a:prstGeom prst="rect">
            <a:avLst/>
          </a:prstGeom>
        </p:spPr>
      </p:pic>
      <p:pic>
        <p:nvPicPr>
          <p:cNvPr id="9" name="Image 7" descr="preencoded.png"/>
          <p:cNvPicPr>
            <a:picLocks noChangeAspect="1"/>
          </p:cNvPicPr>
          <p:nvPr/>
        </p:nvPicPr>
        <p:blipFill>
          <a:blip r:embed="rId9"/>
          <a:stretch>
            <a:fillRect/>
          </a:stretch>
        </p:blipFill>
        <p:spPr>
          <a:xfrm>
            <a:off x="5986463" y="1409700"/>
            <a:ext cx="219075" cy="266700"/>
          </a:xfrm>
          <a:prstGeom prst="rect">
            <a:avLst/>
          </a:prstGeom>
        </p:spPr>
      </p:pic>
      <p:pic>
        <p:nvPicPr>
          <p:cNvPr id="10" name="Image 8" descr="preencoded.png"/>
          <p:cNvPicPr>
            <a:picLocks noChangeAspect="1"/>
          </p:cNvPicPr>
          <p:nvPr/>
        </p:nvPicPr>
        <p:blipFill>
          <a:blip r:embed="rId5"/>
          <a:stretch>
            <a:fillRect/>
          </a:stretch>
        </p:blipFill>
        <p:spPr>
          <a:xfrm>
            <a:off x="8153400" y="1143000"/>
            <a:ext cx="3733800" cy="1905000"/>
          </a:xfrm>
          <a:prstGeom prst="rect">
            <a:avLst/>
          </a:prstGeom>
        </p:spPr>
      </p:pic>
      <p:pic>
        <p:nvPicPr>
          <p:cNvPr id="11" name="Image 9" descr="preencoded.png"/>
          <p:cNvPicPr>
            <a:picLocks noChangeAspect="1"/>
          </p:cNvPicPr>
          <p:nvPr/>
        </p:nvPicPr>
        <p:blipFill>
          <a:blip r:embed="rId6"/>
          <a:stretch>
            <a:fillRect/>
          </a:stretch>
        </p:blipFill>
        <p:spPr>
          <a:xfrm>
            <a:off x="9786938" y="1295400"/>
            <a:ext cx="466725" cy="495300"/>
          </a:xfrm>
          <a:prstGeom prst="rect">
            <a:avLst/>
          </a:prstGeom>
        </p:spPr>
      </p:pic>
      <p:pic>
        <p:nvPicPr>
          <p:cNvPr id="12" name="Image 10" descr="preencoded.png"/>
          <p:cNvPicPr>
            <a:picLocks noChangeAspect="1"/>
          </p:cNvPicPr>
          <p:nvPr/>
        </p:nvPicPr>
        <p:blipFill>
          <a:blip r:embed="rId10"/>
          <a:stretch>
            <a:fillRect/>
          </a:stretch>
        </p:blipFill>
        <p:spPr>
          <a:xfrm>
            <a:off x="9901238" y="1409700"/>
            <a:ext cx="238125" cy="266700"/>
          </a:xfrm>
          <a:prstGeom prst="rect">
            <a:avLst/>
          </a:prstGeom>
        </p:spPr>
      </p:pic>
      <p:pic>
        <p:nvPicPr>
          <p:cNvPr id="13" name="Image 11" descr="preencoded.png"/>
          <p:cNvPicPr>
            <a:picLocks noChangeAspect="1"/>
          </p:cNvPicPr>
          <p:nvPr/>
        </p:nvPicPr>
        <p:blipFill>
          <a:blip r:embed="rId11"/>
          <a:stretch>
            <a:fillRect/>
          </a:stretch>
        </p:blipFill>
        <p:spPr>
          <a:xfrm>
            <a:off x="304800" y="3238500"/>
            <a:ext cx="3733800" cy="1638300"/>
          </a:xfrm>
          <a:prstGeom prst="rect">
            <a:avLst/>
          </a:prstGeom>
        </p:spPr>
      </p:pic>
      <p:pic>
        <p:nvPicPr>
          <p:cNvPr id="14" name="Image 12" descr="preencoded.png"/>
          <p:cNvPicPr>
            <a:picLocks noChangeAspect="1"/>
          </p:cNvPicPr>
          <p:nvPr/>
        </p:nvPicPr>
        <p:blipFill>
          <a:blip r:embed="rId12"/>
          <a:stretch>
            <a:fillRect/>
          </a:stretch>
        </p:blipFill>
        <p:spPr>
          <a:xfrm>
            <a:off x="1985963" y="3390900"/>
            <a:ext cx="371475" cy="495300"/>
          </a:xfrm>
          <a:prstGeom prst="rect">
            <a:avLst/>
          </a:prstGeom>
        </p:spPr>
      </p:pic>
      <p:pic>
        <p:nvPicPr>
          <p:cNvPr id="15" name="Image 13" descr="preencoded.png"/>
          <p:cNvPicPr>
            <a:picLocks noChangeAspect="1"/>
          </p:cNvPicPr>
          <p:nvPr/>
        </p:nvPicPr>
        <p:blipFill>
          <a:blip r:embed="rId13"/>
          <a:stretch>
            <a:fillRect/>
          </a:stretch>
        </p:blipFill>
        <p:spPr>
          <a:xfrm>
            <a:off x="2100263" y="3505200"/>
            <a:ext cx="142875" cy="266700"/>
          </a:xfrm>
          <a:prstGeom prst="rect">
            <a:avLst/>
          </a:prstGeom>
        </p:spPr>
      </p:pic>
      <p:pic>
        <p:nvPicPr>
          <p:cNvPr id="16" name="Image 14" descr="preencoded.png"/>
          <p:cNvPicPr>
            <a:picLocks noChangeAspect="1"/>
          </p:cNvPicPr>
          <p:nvPr/>
        </p:nvPicPr>
        <p:blipFill>
          <a:blip r:embed="rId11"/>
          <a:stretch>
            <a:fillRect/>
          </a:stretch>
        </p:blipFill>
        <p:spPr>
          <a:xfrm>
            <a:off x="4229100" y="3238500"/>
            <a:ext cx="3733800" cy="1638300"/>
          </a:xfrm>
          <a:prstGeom prst="rect">
            <a:avLst/>
          </a:prstGeom>
        </p:spPr>
      </p:pic>
      <p:pic>
        <p:nvPicPr>
          <p:cNvPr id="17" name="Image 15" descr="preencoded.png"/>
          <p:cNvPicPr>
            <a:picLocks noChangeAspect="1"/>
          </p:cNvPicPr>
          <p:nvPr/>
        </p:nvPicPr>
        <p:blipFill>
          <a:blip r:embed="rId14"/>
          <a:stretch>
            <a:fillRect/>
          </a:stretch>
        </p:blipFill>
        <p:spPr>
          <a:xfrm>
            <a:off x="5886450" y="3390900"/>
            <a:ext cx="419100" cy="495300"/>
          </a:xfrm>
          <a:prstGeom prst="rect">
            <a:avLst/>
          </a:prstGeom>
        </p:spPr>
      </p:pic>
      <p:pic>
        <p:nvPicPr>
          <p:cNvPr id="18" name="Image 16" descr="preencoded.png"/>
          <p:cNvPicPr>
            <a:picLocks noChangeAspect="1"/>
          </p:cNvPicPr>
          <p:nvPr/>
        </p:nvPicPr>
        <p:blipFill>
          <a:blip r:embed="rId15"/>
          <a:stretch>
            <a:fillRect/>
          </a:stretch>
        </p:blipFill>
        <p:spPr>
          <a:xfrm>
            <a:off x="6000750" y="3505200"/>
            <a:ext cx="190500" cy="266700"/>
          </a:xfrm>
          <a:prstGeom prst="rect">
            <a:avLst/>
          </a:prstGeom>
        </p:spPr>
      </p:pic>
      <p:pic>
        <p:nvPicPr>
          <p:cNvPr id="19" name="Image 17" descr="preencoded.png"/>
          <p:cNvPicPr>
            <a:picLocks noChangeAspect="1"/>
          </p:cNvPicPr>
          <p:nvPr/>
        </p:nvPicPr>
        <p:blipFill>
          <a:blip r:embed="rId11"/>
          <a:stretch>
            <a:fillRect/>
          </a:stretch>
        </p:blipFill>
        <p:spPr>
          <a:xfrm>
            <a:off x="8153400" y="3238500"/>
            <a:ext cx="3733800" cy="1638300"/>
          </a:xfrm>
          <a:prstGeom prst="rect">
            <a:avLst/>
          </a:prstGeom>
        </p:spPr>
      </p:pic>
      <p:pic>
        <p:nvPicPr>
          <p:cNvPr id="20" name="Image 18" descr="preencoded.png"/>
          <p:cNvPicPr>
            <a:picLocks noChangeAspect="1"/>
          </p:cNvPicPr>
          <p:nvPr/>
        </p:nvPicPr>
        <p:blipFill>
          <a:blip r:embed="rId16"/>
          <a:stretch>
            <a:fillRect/>
          </a:stretch>
        </p:blipFill>
        <p:spPr>
          <a:xfrm>
            <a:off x="9796463" y="3390900"/>
            <a:ext cx="447675" cy="495300"/>
          </a:xfrm>
          <a:prstGeom prst="rect">
            <a:avLst/>
          </a:prstGeom>
        </p:spPr>
      </p:pic>
      <p:pic>
        <p:nvPicPr>
          <p:cNvPr id="21" name="Image 19" descr="preencoded.png"/>
          <p:cNvPicPr>
            <a:picLocks noChangeAspect="1"/>
          </p:cNvPicPr>
          <p:nvPr/>
        </p:nvPicPr>
        <p:blipFill>
          <a:blip r:embed="rId17"/>
          <a:stretch>
            <a:fillRect/>
          </a:stretch>
        </p:blipFill>
        <p:spPr>
          <a:xfrm>
            <a:off x="9910763" y="3505200"/>
            <a:ext cx="219075" cy="266700"/>
          </a:xfrm>
          <a:prstGeom prst="rect">
            <a:avLst/>
          </a:prstGeom>
        </p:spPr>
      </p:pic>
      <p:pic>
        <p:nvPicPr>
          <p:cNvPr id="22" name="Image 20" descr="preencoded.png"/>
          <p:cNvPicPr>
            <a:picLocks noChangeAspect="1"/>
          </p:cNvPicPr>
          <p:nvPr/>
        </p:nvPicPr>
        <p:blipFill>
          <a:blip r:embed="rId18"/>
          <a:stretch>
            <a:fillRect/>
          </a:stretch>
        </p:blipFill>
        <p:spPr>
          <a:xfrm>
            <a:off x="304800" y="5105400"/>
            <a:ext cx="11582400" cy="1104900"/>
          </a:xfrm>
          <a:prstGeom prst="rect">
            <a:avLst/>
          </a:prstGeom>
        </p:spPr>
      </p:pic>
      <p:pic>
        <p:nvPicPr>
          <p:cNvPr id="23" name="Image 21" descr="preencoded.png"/>
          <p:cNvPicPr>
            <a:picLocks noChangeAspect="1"/>
          </p:cNvPicPr>
          <p:nvPr/>
        </p:nvPicPr>
        <p:blipFill>
          <a:blip r:embed="rId19"/>
          <a:stretch>
            <a:fillRect/>
          </a:stretch>
        </p:blipFill>
        <p:spPr>
          <a:xfrm>
            <a:off x="457200" y="5257800"/>
            <a:ext cx="171450" cy="304800"/>
          </a:xfrm>
          <a:prstGeom prst="rect">
            <a:avLst/>
          </a:prstGeom>
        </p:spPr>
      </p:pic>
      <p:pic>
        <p:nvPicPr>
          <p:cNvPr id="24" name="Image 22" descr="preencoded.png"/>
          <p:cNvPicPr>
            <a:picLocks noChangeAspect="1"/>
          </p:cNvPicPr>
          <p:nvPr/>
        </p:nvPicPr>
        <p:blipFill>
          <a:blip r:embed="rId20"/>
          <a:stretch>
            <a:fillRect/>
          </a:stretch>
        </p:blipFill>
        <p:spPr>
          <a:xfrm>
            <a:off x="533400" y="5791200"/>
            <a:ext cx="152400" cy="152400"/>
          </a:xfrm>
          <a:prstGeom prst="rect">
            <a:avLst/>
          </a:prstGeom>
        </p:spPr>
      </p:pic>
      <p:pic>
        <p:nvPicPr>
          <p:cNvPr id="25" name="Image 23" descr="preencoded.png"/>
          <p:cNvPicPr>
            <a:picLocks noChangeAspect="1"/>
          </p:cNvPicPr>
          <p:nvPr/>
        </p:nvPicPr>
        <p:blipFill>
          <a:blip r:embed="rId20"/>
          <a:stretch>
            <a:fillRect/>
          </a:stretch>
        </p:blipFill>
        <p:spPr>
          <a:xfrm>
            <a:off x="3381375" y="5791200"/>
            <a:ext cx="152400" cy="152400"/>
          </a:xfrm>
          <a:prstGeom prst="rect">
            <a:avLst/>
          </a:prstGeom>
        </p:spPr>
      </p:pic>
      <p:pic>
        <p:nvPicPr>
          <p:cNvPr id="26" name="Image 24" descr="preencoded.png"/>
          <p:cNvPicPr>
            <a:picLocks noChangeAspect="1"/>
          </p:cNvPicPr>
          <p:nvPr/>
        </p:nvPicPr>
        <p:blipFill>
          <a:blip r:embed="rId20"/>
          <a:stretch>
            <a:fillRect/>
          </a:stretch>
        </p:blipFill>
        <p:spPr>
          <a:xfrm>
            <a:off x="6229350" y="5791200"/>
            <a:ext cx="152400" cy="152400"/>
          </a:xfrm>
          <a:prstGeom prst="rect">
            <a:avLst/>
          </a:prstGeom>
        </p:spPr>
      </p:pic>
      <p:pic>
        <p:nvPicPr>
          <p:cNvPr id="27" name="Image 25" descr="preencoded.png"/>
          <p:cNvPicPr>
            <a:picLocks noChangeAspect="1"/>
          </p:cNvPicPr>
          <p:nvPr/>
        </p:nvPicPr>
        <p:blipFill>
          <a:blip r:embed="rId20"/>
          <a:stretch>
            <a:fillRect/>
          </a:stretch>
        </p:blipFill>
        <p:spPr>
          <a:xfrm>
            <a:off x="9077325" y="5791200"/>
            <a:ext cx="152400" cy="152400"/>
          </a:xfrm>
          <a:prstGeom prst="rect">
            <a:avLst/>
          </a:prstGeom>
        </p:spPr>
      </p:pic>
      <p:pic>
        <p:nvPicPr>
          <p:cNvPr id="28" name="Image 26" descr="preencoded.png"/>
          <p:cNvPicPr>
            <a:picLocks noChangeAspect="1"/>
          </p:cNvPicPr>
          <p:nvPr/>
        </p:nvPicPr>
        <p:blipFill>
          <a:blip r:embed="rId21"/>
          <a:stretch>
            <a:fillRect/>
          </a:stretch>
        </p:blipFill>
        <p:spPr>
          <a:xfrm>
            <a:off x="0" y="6515100"/>
            <a:ext cx="12192000" cy="381000"/>
          </a:xfrm>
          <a:prstGeom prst="rect">
            <a:avLst/>
          </a:prstGeom>
        </p:spPr>
      </p:pic>
      <p:sp>
        <p:nvSpPr>
          <p:cNvPr id="29" name="Text 0"/>
          <p:cNvSpPr/>
          <p:nvPr/>
        </p:nvSpPr>
        <p:spPr>
          <a:xfrm>
            <a:off x="457200" y="2286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Key Features &amp; Benefits</a:t>
            </a:r>
            <a:endParaRPr lang="en-US" sz="2700" dirty="0"/>
          </a:p>
        </p:txBody>
      </p:sp>
      <p:sp>
        <p:nvSpPr>
          <p:cNvPr id="30" name="Text 1"/>
          <p:cNvSpPr/>
          <p:nvPr/>
        </p:nvSpPr>
        <p:spPr>
          <a:xfrm>
            <a:off x="623471" y="1905000"/>
            <a:ext cx="3096458"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ui-sans-serif" pitchFamily="34" charset="0"/>
                <a:ea typeface="ui-sans-serif" pitchFamily="34" charset="-122"/>
                <a:cs typeface="ui-sans-serif" pitchFamily="34" charset="-120"/>
              </a:rPr>
              <a:t>Per-cell Code Explanations</a:t>
            </a:r>
            <a:endParaRPr lang="en-US" sz="1350" dirty="0"/>
          </a:p>
        </p:txBody>
      </p:sp>
      <p:sp>
        <p:nvSpPr>
          <p:cNvPr id="31" name="Text 2"/>
          <p:cNvSpPr/>
          <p:nvPr/>
        </p:nvSpPr>
        <p:spPr>
          <a:xfrm>
            <a:off x="457200" y="2247900"/>
            <a:ext cx="3429000" cy="381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Line-by-line, conceptual, and summary-level explanations for each code cell</a:t>
            </a:r>
            <a:endParaRPr lang="en-US" sz="1050" dirty="0"/>
          </a:p>
        </p:txBody>
      </p:sp>
      <p:sp>
        <p:nvSpPr>
          <p:cNvPr id="32" name="Text 3"/>
          <p:cNvSpPr/>
          <p:nvPr/>
        </p:nvSpPr>
        <p:spPr>
          <a:xfrm>
            <a:off x="4381500" y="1905000"/>
            <a:ext cx="3429000" cy="5334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ui-sans-serif" pitchFamily="34" charset="0"/>
                <a:ea typeface="ui-sans-serif" pitchFamily="34" charset="-122"/>
                <a:cs typeface="ui-sans-serif" pitchFamily="34" charset="-120"/>
              </a:rPr>
              <a:t>AI-generated Diagrams &amp; Animations</a:t>
            </a:r>
            <a:endParaRPr lang="en-US" sz="1350" dirty="0"/>
          </a:p>
        </p:txBody>
      </p:sp>
      <p:sp>
        <p:nvSpPr>
          <p:cNvPr id="33" name="Text 4"/>
          <p:cNvSpPr/>
          <p:nvPr/>
        </p:nvSpPr>
        <p:spPr>
          <a:xfrm>
            <a:off x="4381500" y="2514600"/>
            <a:ext cx="3429000" cy="381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Visualizes code execution, data flow, and variable changes dynamically</a:t>
            </a:r>
            <a:endParaRPr lang="en-US" sz="1050" dirty="0"/>
          </a:p>
        </p:txBody>
      </p:sp>
      <p:sp>
        <p:nvSpPr>
          <p:cNvPr id="34" name="Text 5"/>
          <p:cNvSpPr/>
          <p:nvPr/>
        </p:nvSpPr>
        <p:spPr>
          <a:xfrm>
            <a:off x="9094827" y="1905000"/>
            <a:ext cx="1850946"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ui-sans-serif" pitchFamily="34" charset="0"/>
                <a:ea typeface="ui-sans-serif" pitchFamily="34" charset="-122"/>
                <a:cs typeface="ui-sans-serif" pitchFamily="34" charset="-120"/>
              </a:rPr>
              <a:t>Interactive Q&amp;A</a:t>
            </a:r>
            <a:endParaRPr lang="en-US" sz="1350" dirty="0"/>
          </a:p>
        </p:txBody>
      </p:sp>
      <p:sp>
        <p:nvSpPr>
          <p:cNvPr id="35" name="Text 6"/>
          <p:cNvSpPr/>
          <p:nvPr/>
        </p:nvSpPr>
        <p:spPr>
          <a:xfrm>
            <a:off x="8305800" y="2247900"/>
            <a:ext cx="3429000" cy="381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Ask questions directly within the code cell and get immediate clarification</a:t>
            </a:r>
            <a:endParaRPr lang="en-US" sz="1050" dirty="0"/>
          </a:p>
        </p:txBody>
      </p:sp>
      <p:sp>
        <p:nvSpPr>
          <p:cNvPr id="36" name="Text 7"/>
          <p:cNvSpPr/>
          <p:nvPr/>
        </p:nvSpPr>
        <p:spPr>
          <a:xfrm>
            <a:off x="774576" y="4000500"/>
            <a:ext cx="2794099"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ui-sans-serif" pitchFamily="34" charset="0"/>
                <a:ea typeface="ui-sans-serif" pitchFamily="34" charset="-122"/>
                <a:cs typeface="ui-sans-serif" pitchFamily="34" charset="-120"/>
              </a:rPr>
              <a:t>Auto-generated Quizzes</a:t>
            </a:r>
            <a:endParaRPr lang="en-US" sz="1350" dirty="0"/>
          </a:p>
        </p:txBody>
      </p:sp>
      <p:sp>
        <p:nvSpPr>
          <p:cNvPr id="37" name="Text 8"/>
          <p:cNvSpPr/>
          <p:nvPr/>
        </p:nvSpPr>
        <p:spPr>
          <a:xfrm>
            <a:off x="457200" y="4343400"/>
            <a:ext cx="3429000" cy="381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Evaluates understanding in real time with tailored assessments</a:t>
            </a:r>
            <a:endParaRPr lang="en-US" sz="1050" dirty="0"/>
          </a:p>
        </p:txBody>
      </p:sp>
      <p:sp>
        <p:nvSpPr>
          <p:cNvPr id="38" name="Text 9"/>
          <p:cNvSpPr/>
          <p:nvPr/>
        </p:nvSpPr>
        <p:spPr>
          <a:xfrm>
            <a:off x="4988540" y="4000500"/>
            <a:ext cx="221492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ui-sans-serif" pitchFamily="34" charset="0"/>
                <a:ea typeface="ui-sans-serif" pitchFamily="34" charset="-122"/>
                <a:cs typeface="ui-sans-serif" pitchFamily="34" charset="-120"/>
              </a:rPr>
              <a:t>Adaptive Pathways</a:t>
            </a:r>
            <a:endParaRPr lang="en-US" sz="1350" dirty="0"/>
          </a:p>
        </p:txBody>
      </p:sp>
      <p:sp>
        <p:nvSpPr>
          <p:cNvPr id="39" name="Text 10"/>
          <p:cNvSpPr/>
          <p:nvPr/>
        </p:nvSpPr>
        <p:spPr>
          <a:xfrm>
            <a:off x="4381500" y="4343400"/>
            <a:ext cx="3429000" cy="381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Adjusts explanations and visuals based on student comprehension level</a:t>
            </a:r>
            <a:endParaRPr lang="en-US" sz="1050" dirty="0"/>
          </a:p>
        </p:txBody>
      </p:sp>
      <p:sp>
        <p:nvSpPr>
          <p:cNvPr id="40" name="Text 11"/>
          <p:cNvSpPr/>
          <p:nvPr/>
        </p:nvSpPr>
        <p:spPr>
          <a:xfrm>
            <a:off x="8772302" y="4000500"/>
            <a:ext cx="2495848"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ui-sans-serif" pitchFamily="34" charset="0"/>
                <a:ea typeface="ui-sans-serif" pitchFamily="34" charset="-122"/>
                <a:cs typeface="ui-sans-serif" pitchFamily="34" charset="-120"/>
              </a:rPr>
              <a:t>Personalized Memory</a:t>
            </a:r>
            <a:endParaRPr lang="en-US" sz="1350" dirty="0"/>
          </a:p>
        </p:txBody>
      </p:sp>
      <p:sp>
        <p:nvSpPr>
          <p:cNvPr id="41" name="Text 12"/>
          <p:cNvSpPr/>
          <p:nvPr/>
        </p:nvSpPr>
        <p:spPr>
          <a:xfrm>
            <a:off x="8305800" y="4343400"/>
            <a:ext cx="3429000" cy="381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Stores user misunderstandings and preferences to customize future learning</a:t>
            </a:r>
            <a:endParaRPr lang="en-US" sz="1050" dirty="0"/>
          </a:p>
        </p:txBody>
      </p:sp>
      <p:sp>
        <p:nvSpPr>
          <p:cNvPr id="42" name="Text 13"/>
          <p:cNvSpPr/>
          <p:nvPr/>
        </p:nvSpPr>
        <p:spPr>
          <a:xfrm>
            <a:off x="742950" y="5276850"/>
            <a:ext cx="1153358"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Benefits:</a:t>
            </a:r>
            <a:endParaRPr lang="en-US" sz="1500" dirty="0"/>
          </a:p>
        </p:txBody>
      </p:sp>
      <p:sp>
        <p:nvSpPr>
          <p:cNvPr id="43" name="Text 14"/>
          <p:cNvSpPr/>
          <p:nvPr/>
        </p:nvSpPr>
        <p:spPr>
          <a:xfrm>
            <a:off x="762000" y="5753100"/>
            <a:ext cx="1837194"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Interactive Learning</a:t>
            </a:r>
            <a:endParaRPr lang="en-US" sz="1200" dirty="0"/>
          </a:p>
        </p:txBody>
      </p:sp>
      <p:sp>
        <p:nvSpPr>
          <p:cNvPr id="44" name="Text 15"/>
          <p:cNvSpPr/>
          <p:nvPr/>
        </p:nvSpPr>
        <p:spPr>
          <a:xfrm>
            <a:off x="3609975" y="5753100"/>
            <a:ext cx="2094012"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Multimodal Experience</a:t>
            </a:r>
            <a:endParaRPr lang="en-US" sz="1200" dirty="0"/>
          </a:p>
        </p:txBody>
      </p:sp>
      <p:sp>
        <p:nvSpPr>
          <p:cNvPr id="45" name="Text 16"/>
          <p:cNvSpPr/>
          <p:nvPr/>
        </p:nvSpPr>
        <p:spPr>
          <a:xfrm>
            <a:off x="6457950" y="5753100"/>
            <a:ext cx="1671995"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Adaptive Teaching</a:t>
            </a:r>
            <a:endParaRPr lang="en-US" sz="1200" dirty="0"/>
          </a:p>
        </p:txBody>
      </p:sp>
      <p:sp>
        <p:nvSpPr>
          <p:cNvPr id="46" name="Text 17"/>
          <p:cNvSpPr/>
          <p:nvPr/>
        </p:nvSpPr>
        <p:spPr>
          <a:xfrm>
            <a:off x="9305925" y="5753100"/>
            <a:ext cx="2121515"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Personalized Education</a:t>
            </a:r>
            <a:endParaRPr lang="en-US" sz="1200" dirty="0"/>
          </a:p>
        </p:txBody>
      </p:sp>
      <p:sp>
        <p:nvSpPr>
          <p:cNvPr id="47" name="Text 18"/>
          <p:cNvSpPr/>
          <p:nvPr/>
        </p:nvSpPr>
        <p:spPr>
          <a:xfrm>
            <a:off x="381000" y="6591300"/>
            <a:ext cx="139999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Agent CellTutor</a:t>
            </a:r>
            <a:endParaRPr lang="en-US" sz="1200" dirty="0"/>
          </a:p>
        </p:txBody>
      </p:sp>
      <p:sp>
        <p:nvSpPr>
          <p:cNvPr id="48" name="Text 19"/>
          <p:cNvSpPr/>
          <p:nvPr/>
        </p:nvSpPr>
        <p:spPr>
          <a:xfrm>
            <a:off x="11565731" y="6591300"/>
            <a:ext cx="294322"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7/8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228600" y="1066800"/>
            <a:ext cx="11734800" cy="1257300"/>
          </a:xfrm>
          <a:prstGeom prst="rect">
            <a:avLst/>
          </a:prstGeom>
        </p:spPr>
      </p:pic>
      <p:pic>
        <p:nvPicPr>
          <p:cNvPr id="5" name="Image 3" descr="preencoded.png"/>
          <p:cNvPicPr>
            <a:picLocks noChangeAspect="1"/>
          </p:cNvPicPr>
          <p:nvPr/>
        </p:nvPicPr>
        <p:blipFill>
          <a:blip r:embed="rId6"/>
          <a:stretch>
            <a:fillRect/>
          </a:stretch>
        </p:blipFill>
        <p:spPr>
          <a:xfrm>
            <a:off x="228600" y="2857500"/>
            <a:ext cx="2224980" cy="1790700"/>
          </a:xfrm>
          <a:prstGeom prst="rect">
            <a:avLst/>
          </a:prstGeom>
        </p:spPr>
      </p:pic>
      <p:pic>
        <p:nvPicPr>
          <p:cNvPr id="6" name="Image 4" descr="preencoded.png"/>
          <p:cNvPicPr>
            <a:picLocks noChangeAspect="1"/>
          </p:cNvPicPr>
          <p:nvPr/>
        </p:nvPicPr>
        <p:blipFill>
          <a:blip r:embed="rId7"/>
          <a:stretch>
            <a:fillRect/>
          </a:stretch>
        </p:blipFill>
        <p:spPr>
          <a:xfrm>
            <a:off x="1117253" y="3009900"/>
            <a:ext cx="447675" cy="495300"/>
          </a:xfrm>
          <a:prstGeom prst="rect">
            <a:avLst/>
          </a:prstGeom>
        </p:spPr>
      </p:pic>
      <p:pic>
        <p:nvPicPr>
          <p:cNvPr id="7" name="Image 5" descr="preencoded.png"/>
          <p:cNvPicPr>
            <a:picLocks noChangeAspect="1"/>
          </p:cNvPicPr>
          <p:nvPr/>
        </p:nvPicPr>
        <p:blipFill>
          <a:blip r:embed="rId8"/>
          <a:stretch>
            <a:fillRect/>
          </a:stretch>
        </p:blipFill>
        <p:spPr>
          <a:xfrm>
            <a:off x="1231553" y="3124200"/>
            <a:ext cx="219075" cy="266700"/>
          </a:xfrm>
          <a:prstGeom prst="rect">
            <a:avLst/>
          </a:prstGeom>
        </p:spPr>
      </p:pic>
      <p:pic>
        <p:nvPicPr>
          <p:cNvPr id="8" name="Image 6" descr="preencoded.png"/>
          <p:cNvPicPr>
            <a:picLocks noChangeAspect="1"/>
          </p:cNvPicPr>
          <p:nvPr/>
        </p:nvPicPr>
        <p:blipFill>
          <a:blip r:embed="rId9"/>
          <a:stretch>
            <a:fillRect/>
          </a:stretch>
        </p:blipFill>
        <p:spPr>
          <a:xfrm>
            <a:off x="2605980" y="2857500"/>
            <a:ext cx="2224980" cy="1790700"/>
          </a:xfrm>
          <a:prstGeom prst="rect">
            <a:avLst/>
          </a:prstGeom>
        </p:spPr>
      </p:pic>
      <p:pic>
        <p:nvPicPr>
          <p:cNvPr id="9" name="Image 7" descr="preencoded.png"/>
          <p:cNvPicPr>
            <a:picLocks noChangeAspect="1"/>
          </p:cNvPicPr>
          <p:nvPr/>
        </p:nvPicPr>
        <p:blipFill>
          <a:blip r:embed="rId10"/>
          <a:stretch>
            <a:fillRect/>
          </a:stretch>
        </p:blipFill>
        <p:spPr>
          <a:xfrm>
            <a:off x="3518446" y="3009900"/>
            <a:ext cx="400050" cy="495300"/>
          </a:xfrm>
          <a:prstGeom prst="rect">
            <a:avLst/>
          </a:prstGeom>
        </p:spPr>
      </p:pic>
      <p:pic>
        <p:nvPicPr>
          <p:cNvPr id="10" name="Image 8" descr="preencoded.png"/>
          <p:cNvPicPr>
            <a:picLocks noChangeAspect="1"/>
          </p:cNvPicPr>
          <p:nvPr/>
        </p:nvPicPr>
        <p:blipFill>
          <a:blip r:embed="rId11"/>
          <a:stretch>
            <a:fillRect/>
          </a:stretch>
        </p:blipFill>
        <p:spPr>
          <a:xfrm>
            <a:off x="3632746" y="3124200"/>
            <a:ext cx="171450" cy="266700"/>
          </a:xfrm>
          <a:prstGeom prst="rect">
            <a:avLst/>
          </a:prstGeom>
        </p:spPr>
      </p:pic>
      <p:pic>
        <p:nvPicPr>
          <p:cNvPr id="11" name="Image 9" descr="preencoded.png"/>
          <p:cNvPicPr>
            <a:picLocks noChangeAspect="1"/>
          </p:cNvPicPr>
          <p:nvPr/>
        </p:nvPicPr>
        <p:blipFill>
          <a:blip r:embed="rId12"/>
          <a:stretch>
            <a:fillRect/>
          </a:stretch>
        </p:blipFill>
        <p:spPr>
          <a:xfrm>
            <a:off x="4983361" y="2857500"/>
            <a:ext cx="2225129" cy="1790700"/>
          </a:xfrm>
          <a:prstGeom prst="rect">
            <a:avLst/>
          </a:prstGeom>
        </p:spPr>
      </p:pic>
      <p:pic>
        <p:nvPicPr>
          <p:cNvPr id="12" name="Image 10" descr="preencoded.png"/>
          <p:cNvPicPr>
            <a:picLocks noChangeAspect="1"/>
          </p:cNvPicPr>
          <p:nvPr/>
        </p:nvPicPr>
        <p:blipFill>
          <a:blip r:embed="rId13"/>
          <a:stretch>
            <a:fillRect/>
          </a:stretch>
        </p:blipFill>
        <p:spPr>
          <a:xfrm>
            <a:off x="5886301" y="3009900"/>
            <a:ext cx="419100" cy="495300"/>
          </a:xfrm>
          <a:prstGeom prst="rect">
            <a:avLst/>
          </a:prstGeom>
        </p:spPr>
      </p:pic>
      <p:pic>
        <p:nvPicPr>
          <p:cNvPr id="13" name="Image 11" descr="preencoded.png"/>
          <p:cNvPicPr>
            <a:picLocks noChangeAspect="1"/>
          </p:cNvPicPr>
          <p:nvPr/>
        </p:nvPicPr>
        <p:blipFill>
          <a:blip r:embed="rId14"/>
          <a:stretch>
            <a:fillRect/>
          </a:stretch>
        </p:blipFill>
        <p:spPr>
          <a:xfrm>
            <a:off x="6000601" y="3124200"/>
            <a:ext cx="190500" cy="266700"/>
          </a:xfrm>
          <a:prstGeom prst="rect">
            <a:avLst/>
          </a:prstGeom>
        </p:spPr>
      </p:pic>
      <p:pic>
        <p:nvPicPr>
          <p:cNvPr id="14" name="Image 12" descr="preencoded.png"/>
          <p:cNvPicPr>
            <a:picLocks noChangeAspect="1"/>
          </p:cNvPicPr>
          <p:nvPr/>
        </p:nvPicPr>
        <p:blipFill>
          <a:blip r:embed="rId9"/>
          <a:stretch>
            <a:fillRect/>
          </a:stretch>
        </p:blipFill>
        <p:spPr>
          <a:xfrm>
            <a:off x="7360890" y="2857500"/>
            <a:ext cx="2224980" cy="1790700"/>
          </a:xfrm>
          <a:prstGeom prst="rect">
            <a:avLst/>
          </a:prstGeom>
        </p:spPr>
      </p:pic>
      <p:pic>
        <p:nvPicPr>
          <p:cNvPr id="15" name="Image 13" descr="preencoded.png"/>
          <p:cNvPicPr>
            <a:picLocks noChangeAspect="1"/>
          </p:cNvPicPr>
          <p:nvPr/>
        </p:nvPicPr>
        <p:blipFill>
          <a:blip r:embed="rId15"/>
          <a:stretch>
            <a:fillRect/>
          </a:stretch>
        </p:blipFill>
        <p:spPr>
          <a:xfrm>
            <a:off x="8240018" y="3009900"/>
            <a:ext cx="466725" cy="495300"/>
          </a:xfrm>
          <a:prstGeom prst="rect">
            <a:avLst/>
          </a:prstGeom>
        </p:spPr>
      </p:pic>
      <p:pic>
        <p:nvPicPr>
          <p:cNvPr id="16" name="Image 14" descr="preencoded.png"/>
          <p:cNvPicPr>
            <a:picLocks noChangeAspect="1"/>
          </p:cNvPicPr>
          <p:nvPr/>
        </p:nvPicPr>
        <p:blipFill>
          <a:blip r:embed="rId16"/>
          <a:stretch>
            <a:fillRect/>
          </a:stretch>
        </p:blipFill>
        <p:spPr>
          <a:xfrm>
            <a:off x="8354318" y="3124200"/>
            <a:ext cx="238125" cy="266700"/>
          </a:xfrm>
          <a:prstGeom prst="rect">
            <a:avLst/>
          </a:prstGeom>
        </p:spPr>
      </p:pic>
      <p:pic>
        <p:nvPicPr>
          <p:cNvPr id="17" name="Image 15" descr="preencoded.png"/>
          <p:cNvPicPr>
            <a:picLocks noChangeAspect="1"/>
          </p:cNvPicPr>
          <p:nvPr/>
        </p:nvPicPr>
        <p:blipFill>
          <a:blip r:embed="rId12"/>
          <a:stretch>
            <a:fillRect/>
          </a:stretch>
        </p:blipFill>
        <p:spPr>
          <a:xfrm>
            <a:off x="9738271" y="2857500"/>
            <a:ext cx="2225129" cy="1790700"/>
          </a:xfrm>
          <a:prstGeom prst="rect">
            <a:avLst/>
          </a:prstGeom>
        </p:spPr>
      </p:pic>
      <p:pic>
        <p:nvPicPr>
          <p:cNvPr id="18" name="Image 16" descr="preencoded.png"/>
          <p:cNvPicPr>
            <a:picLocks noChangeAspect="1"/>
          </p:cNvPicPr>
          <p:nvPr/>
        </p:nvPicPr>
        <p:blipFill>
          <a:blip r:embed="rId17"/>
          <a:stretch>
            <a:fillRect/>
          </a:stretch>
        </p:blipFill>
        <p:spPr>
          <a:xfrm>
            <a:off x="10617398" y="3009900"/>
            <a:ext cx="466725" cy="495300"/>
          </a:xfrm>
          <a:prstGeom prst="rect">
            <a:avLst/>
          </a:prstGeom>
        </p:spPr>
      </p:pic>
      <p:pic>
        <p:nvPicPr>
          <p:cNvPr id="19" name="Image 17" descr="preencoded.png"/>
          <p:cNvPicPr>
            <a:picLocks noChangeAspect="1"/>
          </p:cNvPicPr>
          <p:nvPr/>
        </p:nvPicPr>
        <p:blipFill>
          <a:blip r:embed="rId18"/>
          <a:stretch>
            <a:fillRect/>
          </a:stretch>
        </p:blipFill>
        <p:spPr>
          <a:xfrm>
            <a:off x="10731698" y="3124200"/>
            <a:ext cx="238125" cy="266700"/>
          </a:xfrm>
          <a:prstGeom prst="rect">
            <a:avLst/>
          </a:prstGeom>
        </p:spPr>
      </p:pic>
      <p:pic>
        <p:nvPicPr>
          <p:cNvPr id="20" name="Image 18" descr="preencoded.png"/>
          <p:cNvPicPr>
            <a:picLocks noChangeAspect="1"/>
          </p:cNvPicPr>
          <p:nvPr/>
        </p:nvPicPr>
        <p:blipFill>
          <a:blip r:embed="rId19"/>
          <a:stretch>
            <a:fillRect/>
          </a:stretch>
        </p:blipFill>
        <p:spPr>
          <a:xfrm>
            <a:off x="228600" y="4838700"/>
            <a:ext cx="11734800" cy="1104900"/>
          </a:xfrm>
          <a:prstGeom prst="rect">
            <a:avLst/>
          </a:prstGeom>
        </p:spPr>
      </p:pic>
      <p:pic>
        <p:nvPicPr>
          <p:cNvPr id="21" name="Image 19" descr="preencoded.png"/>
          <p:cNvPicPr>
            <a:picLocks noChangeAspect="1"/>
          </p:cNvPicPr>
          <p:nvPr/>
        </p:nvPicPr>
        <p:blipFill>
          <a:blip r:embed="rId20"/>
          <a:stretch>
            <a:fillRect/>
          </a:stretch>
        </p:blipFill>
        <p:spPr>
          <a:xfrm>
            <a:off x="0" y="6477000"/>
            <a:ext cx="12192000" cy="381000"/>
          </a:xfrm>
          <a:prstGeom prst="rect">
            <a:avLst/>
          </a:prstGeom>
        </p:spPr>
      </p:pic>
      <p:sp>
        <p:nvSpPr>
          <p:cNvPr id="22" name="Text 0"/>
          <p:cNvSpPr/>
          <p:nvPr/>
        </p:nvSpPr>
        <p:spPr>
          <a:xfrm>
            <a:off x="457200" y="2286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Conclusion &amp; Impact</a:t>
            </a:r>
            <a:endParaRPr lang="en-US" sz="2700" dirty="0"/>
          </a:p>
        </p:txBody>
      </p:sp>
      <p:sp>
        <p:nvSpPr>
          <p:cNvPr id="23" name="Text 1"/>
          <p:cNvSpPr/>
          <p:nvPr/>
        </p:nvSpPr>
        <p:spPr>
          <a:xfrm>
            <a:off x="419100" y="1257300"/>
            <a:ext cx="113538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Agent CellTutor</a:t>
            </a:r>
            <a:endParaRPr lang="en-US" sz="1800" dirty="0"/>
          </a:p>
        </p:txBody>
      </p:sp>
      <p:sp>
        <p:nvSpPr>
          <p:cNvPr id="24" name="Text 2"/>
          <p:cNvSpPr/>
          <p:nvPr/>
        </p:nvSpPr>
        <p:spPr>
          <a:xfrm>
            <a:off x="419100" y="1676400"/>
            <a:ext cx="113538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Transforming static AI agentic course notebooks into immersive, interactive, and intelligent learning companions. By breaking down complex code into intuitive visuals and adaptive explanations, Agent CellTutor ensures deep understanding before progression.</a:t>
            </a:r>
            <a:endParaRPr lang="en-US" sz="1200" dirty="0"/>
          </a:p>
        </p:txBody>
      </p:sp>
      <p:sp>
        <p:nvSpPr>
          <p:cNvPr id="25" name="Text 3"/>
          <p:cNvSpPr/>
          <p:nvPr/>
        </p:nvSpPr>
        <p:spPr>
          <a:xfrm>
            <a:off x="228600" y="2476500"/>
            <a:ext cx="11734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Key Attributes</a:t>
            </a:r>
            <a:endParaRPr lang="en-US" sz="1500" dirty="0"/>
          </a:p>
        </p:txBody>
      </p:sp>
      <p:sp>
        <p:nvSpPr>
          <p:cNvPr id="26" name="Text 4"/>
          <p:cNvSpPr/>
          <p:nvPr/>
        </p:nvSpPr>
        <p:spPr>
          <a:xfrm>
            <a:off x="918537" y="3619500"/>
            <a:ext cx="845106"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000000"/>
                </a:solidFill>
                <a:latin typeface="ui-sans-serif" pitchFamily="34" charset="0"/>
                <a:ea typeface="ui-sans-serif" pitchFamily="34" charset="-122"/>
                <a:cs typeface="ui-sans-serif" pitchFamily="34" charset="-120"/>
              </a:rPr>
              <a:t>Modular</a:t>
            </a:r>
            <a:endParaRPr lang="en-US" sz="1200" dirty="0"/>
          </a:p>
        </p:txBody>
      </p:sp>
      <p:sp>
        <p:nvSpPr>
          <p:cNvPr id="27" name="Text 5"/>
          <p:cNvSpPr/>
          <p:nvPr/>
        </p:nvSpPr>
        <p:spPr>
          <a:xfrm>
            <a:off x="381000" y="3924300"/>
            <a:ext cx="1920180" cy="571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Distinct, specialized agents for clear separation of concerns</a:t>
            </a:r>
            <a:endParaRPr lang="en-US" sz="1050" dirty="0"/>
          </a:p>
        </p:txBody>
      </p:sp>
      <p:sp>
        <p:nvSpPr>
          <p:cNvPr id="28" name="Text 6"/>
          <p:cNvSpPr/>
          <p:nvPr/>
        </p:nvSpPr>
        <p:spPr>
          <a:xfrm>
            <a:off x="3284845" y="3619500"/>
            <a:ext cx="867251"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000000"/>
                </a:solidFill>
                <a:latin typeface="ui-sans-serif" pitchFamily="34" charset="0"/>
                <a:ea typeface="ui-sans-serif" pitchFamily="34" charset="-122"/>
                <a:cs typeface="ui-sans-serif" pitchFamily="34" charset="-120"/>
              </a:rPr>
              <a:t>Scalable</a:t>
            </a:r>
            <a:endParaRPr lang="en-US" sz="1200" dirty="0"/>
          </a:p>
        </p:txBody>
      </p:sp>
      <p:sp>
        <p:nvSpPr>
          <p:cNvPr id="29" name="Text 7"/>
          <p:cNvSpPr/>
          <p:nvPr/>
        </p:nvSpPr>
        <p:spPr>
          <a:xfrm>
            <a:off x="2758380" y="3924300"/>
            <a:ext cx="1920180" cy="571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Expands to accommodate diverse learning content and user bases</a:t>
            </a:r>
            <a:endParaRPr lang="en-US" sz="1050" dirty="0"/>
          </a:p>
        </p:txBody>
      </p:sp>
      <p:sp>
        <p:nvSpPr>
          <p:cNvPr id="30" name="Text 8"/>
          <p:cNvSpPr/>
          <p:nvPr/>
        </p:nvSpPr>
        <p:spPr>
          <a:xfrm>
            <a:off x="5516835" y="3619500"/>
            <a:ext cx="1158180"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000000"/>
                </a:solidFill>
                <a:latin typeface="ui-sans-serif" pitchFamily="34" charset="0"/>
                <a:ea typeface="ui-sans-serif" pitchFamily="34" charset="-122"/>
                <a:cs typeface="ui-sans-serif" pitchFamily="34" charset="-120"/>
              </a:rPr>
              <a:t>Multimodal</a:t>
            </a:r>
            <a:endParaRPr lang="en-US" sz="1200" dirty="0"/>
          </a:p>
        </p:txBody>
      </p:sp>
      <p:sp>
        <p:nvSpPr>
          <p:cNvPr id="31" name="Text 9"/>
          <p:cNvSpPr/>
          <p:nvPr/>
        </p:nvSpPr>
        <p:spPr>
          <a:xfrm>
            <a:off x="5135761" y="3924300"/>
            <a:ext cx="1920329" cy="571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Engages learners through text, diagrams, and animations</a:t>
            </a:r>
            <a:endParaRPr lang="en-US" sz="1050" dirty="0"/>
          </a:p>
        </p:txBody>
      </p:sp>
      <p:sp>
        <p:nvSpPr>
          <p:cNvPr id="32" name="Text 10"/>
          <p:cNvSpPr/>
          <p:nvPr/>
        </p:nvSpPr>
        <p:spPr>
          <a:xfrm>
            <a:off x="7910810" y="3619500"/>
            <a:ext cx="1125141"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000000"/>
                </a:solidFill>
                <a:latin typeface="ui-sans-serif" pitchFamily="34" charset="0"/>
                <a:ea typeface="ui-sans-serif" pitchFamily="34" charset="-122"/>
                <a:cs typeface="ui-sans-serif" pitchFamily="34" charset="-120"/>
              </a:rPr>
              <a:t>Interactive</a:t>
            </a:r>
            <a:endParaRPr lang="en-US" sz="1200" dirty="0"/>
          </a:p>
        </p:txBody>
      </p:sp>
      <p:sp>
        <p:nvSpPr>
          <p:cNvPr id="33" name="Text 11"/>
          <p:cNvSpPr/>
          <p:nvPr/>
        </p:nvSpPr>
        <p:spPr>
          <a:xfrm>
            <a:off x="7513290" y="3924300"/>
            <a:ext cx="1920180" cy="571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Fosters active learning through in-cell Q&amp;A and immediate feedback</a:t>
            </a:r>
            <a:endParaRPr lang="en-US" sz="1050" dirty="0"/>
          </a:p>
        </p:txBody>
      </p:sp>
      <p:sp>
        <p:nvSpPr>
          <p:cNvPr id="34" name="Text 12"/>
          <p:cNvSpPr/>
          <p:nvPr/>
        </p:nvSpPr>
        <p:spPr>
          <a:xfrm>
            <a:off x="10222275" y="3619500"/>
            <a:ext cx="1257121"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000000"/>
                </a:solidFill>
                <a:latin typeface="ui-sans-serif" pitchFamily="34" charset="0"/>
                <a:ea typeface="ui-sans-serif" pitchFamily="34" charset="-122"/>
                <a:cs typeface="ui-sans-serif" pitchFamily="34" charset="-120"/>
              </a:rPr>
              <a:t>Pedagogical</a:t>
            </a:r>
            <a:endParaRPr lang="en-US" sz="1200" dirty="0"/>
          </a:p>
        </p:txBody>
      </p:sp>
      <p:sp>
        <p:nvSpPr>
          <p:cNvPr id="35" name="Text 13"/>
          <p:cNvSpPr/>
          <p:nvPr/>
        </p:nvSpPr>
        <p:spPr>
          <a:xfrm>
            <a:off x="9890671" y="3924300"/>
            <a:ext cx="1920329" cy="571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Built upon principles that promote effective learning and knowledge retention</a:t>
            </a:r>
            <a:endParaRPr lang="en-US" sz="1050" dirty="0"/>
          </a:p>
        </p:txBody>
      </p:sp>
      <p:sp>
        <p:nvSpPr>
          <p:cNvPr id="36" name="Text 14"/>
          <p:cNvSpPr/>
          <p:nvPr/>
        </p:nvSpPr>
        <p:spPr>
          <a:xfrm>
            <a:off x="381000" y="4991100"/>
            <a:ext cx="1143000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The Future of Programming Education</a:t>
            </a:r>
            <a:endParaRPr lang="en-US" sz="1500" dirty="0"/>
          </a:p>
        </p:txBody>
      </p:sp>
      <p:sp>
        <p:nvSpPr>
          <p:cNvPr id="37" name="Text 15"/>
          <p:cNvSpPr/>
          <p:nvPr/>
        </p:nvSpPr>
        <p:spPr>
          <a:xfrm>
            <a:off x="381000" y="5334000"/>
            <a:ext cx="1143000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Just as Agent Shutton revolutionized blog creation, Agent CellTutor automates teaching itself, tailored per notebook cell. We invite your questions and feedback.</a:t>
            </a:r>
            <a:endParaRPr lang="en-US" sz="1200" dirty="0"/>
          </a:p>
        </p:txBody>
      </p:sp>
      <p:sp>
        <p:nvSpPr>
          <p:cNvPr id="38" name="Text 16"/>
          <p:cNvSpPr/>
          <p:nvPr/>
        </p:nvSpPr>
        <p:spPr>
          <a:xfrm>
            <a:off x="381000" y="6553200"/>
            <a:ext cx="139999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Agent CellTutor</a:t>
            </a:r>
            <a:endParaRPr lang="en-US" sz="1200" dirty="0"/>
          </a:p>
        </p:txBody>
      </p:sp>
      <p:sp>
        <p:nvSpPr>
          <p:cNvPr id="39" name="Text 17"/>
          <p:cNvSpPr/>
          <p:nvPr/>
        </p:nvSpPr>
        <p:spPr>
          <a:xfrm>
            <a:off x="11565731" y="6553200"/>
            <a:ext cx="294322"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8/8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637</Words>
  <Application>Microsoft Office PowerPoint</Application>
  <PresentationFormat>Widescreen</PresentationFormat>
  <Paragraphs>122</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Manikant Savadatti</cp:lastModifiedBy>
  <cp:revision>2</cp:revision>
  <dcterms:created xsi:type="dcterms:W3CDTF">2025-11-19T10:12:56Z</dcterms:created>
  <dcterms:modified xsi:type="dcterms:W3CDTF">2025-11-19T10:15:22Z</dcterms:modified>
</cp:coreProperties>
</file>